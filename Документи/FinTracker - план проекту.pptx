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9753600" cy="7315200"/>
  <p:notesSz cx="6858000" cy="9144000"/>
  <p:embeddedFontLst>
    <p:embeddedFont>
      <p:font typeface="Poppins" charset="1" panose="00000500000000000000"/>
      <p:regular r:id="rId19"/>
    </p:embeddedFont>
    <p:embeddedFont>
      <p:font typeface="Canva Sans Bold" charset="1" panose="020B0803030501040103"/>
      <p:regular r:id="rId20"/>
    </p:embeddedFont>
    <p:embeddedFont>
      <p:font typeface="Poppins Bold Italics" charset="1" panose="00000800000000000000"/>
      <p:regular r:id="rId21"/>
    </p:embeddedFont>
    <p:embeddedFont>
      <p:font typeface="Poppins Italics" charset="1" panose="00000500000000000000"/>
      <p:regular r:id="rId22"/>
    </p:embeddedFont>
    <p:embeddedFont>
      <p:font typeface="Poppins Bold" charset="1" panose="00000800000000000000"/>
      <p:regular r:id="rId23"/>
    </p:embeddedFont>
    <p:embeddedFont>
      <p:font typeface="Montserrat Bold" charset="1" panose="00000800000000000000"/>
      <p:regular r:id="rId24"/>
    </p:embeddedFont>
    <p:embeddedFont>
      <p:font typeface="Glacial Indifference Italics"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31.png" Type="http://schemas.openxmlformats.org/officeDocument/2006/relationships/image"/><Relationship Id="rId17" Target="../media/image32.svg" Type="http://schemas.openxmlformats.org/officeDocument/2006/relationships/image"/><Relationship Id="rId18" Target="../media/image33.png" Type="http://schemas.openxmlformats.org/officeDocument/2006/relationships/image"/><Relationship Id="rId19" Target="../media/image3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35.png" Type="http://schemas.openxmlformats.org/officeDocument/2006/relationships/image"/><Relationship Id="rId7"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40.png" Type="http://schemas.openxmlformats.org/officeDocument/2006/relationships/image"/><Relationship Id="rId13" Target="../media/image41.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16" Target="../media/image42.png" Type="http://schemas.openxmlformats.org/officeDocument/2006/relationships/image"/><Relationship Id="rId17" Target="../media/image43.svg" Type="http://schemas.openxmlformats.org/officeDocument/2006/relationships/image"/><Relationship Id="rId18" Target="../media/image44.png" Type="http://schemas.openxmlformats.org/officeDocument/2006/relationships/image"/><Relationship Id="rId19" Target="../media/image45.svg" Type="http://schemas.openxmlformats.org/officeDocument/2006/relationships/image"/><Relationship Id="rId2" Target="../media/image1.png" Type="http://schemas.openxmlformats.org/officeDocument/2006/relationships/image"/><Relationship Id="rId20" Target="../media/image46.png" Type="http://schemas.openxmlformats.org/officeDocument/2006/relationships/image"/><Relationship Id="rId21" Target="../media/image47.svg" Type="http://schemas.openxmlformats.org/officeDocument/2006/relationships/image"/><Relationship Id="rId3" Target="../media/image2.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56.png" Type="http://schemas.openxmlformats.org/officeDocument/2006/relationships/image"/><Relationship Id="rId7" Target="../media/image57.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4.png" Type="http://schemas.openxmlformats.org/officeDocument/2006/relationships/image"/><Relationship Id="rId5" Target="../media/image6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svg" Type="http://schemas.openxmlformats.org/officeDocument/2006/relationships/image"/><Relationship Id="rId11" Target="../media/image73.png" Type="http://schemas.openxmlformats.org/officeDocument/2006/relationships/image"/><Relationship Id="rId12" Target="../media/image74.svg" Type="http://schemas.openxmlformats.org/officeDocument/2006/relationships/image"/><Relationship Id="rId13" Target="../media/image33.png" Type="http://schemas.openxmlformats.org/officeDocument/2006/relationships/image"/><Relationship Id="rId14" Target="../media/image3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66.png" Type="http://schemas.openxmlformats.org/officeDocument/2006/relationships/image"/><Relationship Id="rId5" Target="../media/image67.png" Type="http://schemas.openxmlformats.org/officeDocument/2006/relationships/image"/><Relationship Id="rId6" Target="../media/image68.svg" Type="http://schemas.openxmlformats.org/officeDocument/2006/relationships/image"/><Relationship Id="rId7" Target="../media/image69.png" Type="http://schemas.openxmlformats.org/officeDocument/2006/relationships/image"/><Relationship Id="rId8" Target="../media/image70.svg" Type="http://schemas.openxmlformats.org/officeDocument/2006/relationships/image"/><Relationship Id="rId9" Target="../media/image7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58256" y="5372185"/>
            <a:ext cx="3572588" cy="2701770"/>
          </a:xfrm>
          <a:custGeom>
            <a:avLst/>
            <a:gdLst/>
            <a:ahLst/>
            <a:cxnLst/>
            <a:rect r="r" b="b" t="t" l="l"/>
            <a:pathLst>
              <a:path h="2701770" w="3572588">
                <a:moveTo>
                  <a:pt x="0" y="0"/>
                </a:moveTo>
                <a:lnTo>
                  <a:pt x="3572588" y="0"/>
                </a:lnTo>
                <a:lnTo>
                  <a:pt x="3572588" y="2701770"/>
                </a:lnTo>
                <a:lnTo>
                  <a:pt x="0" y="2701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563872" y="3657600"/>
            <a:ext cx="5142979" cy="4744398"/>
          </a:xfrm>
          <a:custGeom>
            <a:avLst/>
            <a:gdLst/>
            <a:ahLst/>
            <a:cxnLst/>
            <a:rect r="r" b="b" t="t" l="l"/>
            <a:pathLst>
              <a:path h="4744398" w="5142979">
                <a:moveTo>
                  <a:pt x="0" y="0"/>
                </a:moveTo>
                <a:lnTo>
                  <a:pt x="5142979" y="0"/>
                </a:lnTo>
                <a:lnTo>
                  <a:pt x="5142979" y="4744398"/>
                </a:lnTo>
                <a:lnTo>
                  <a:pt x="0" y="4744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75895" y="5744692"/>
            <a:ext cx="988013" cy="1148852"/>
          </a:xfrm>
          <a:custGeom>
            <a:avLst/>
            <a:gdLst/>
            <a:ahLst/>
            <a:cxnLst/>
            <a:rect r="r" b="b" t="t" l="l"/>
            <a:pathLst>
              <a:path h="1148852" w="988013">
                <a:moveTo>
                  <a:pt x="0" y="0"/>
                </a:moveTo>
                <a:lnTo>
                  <a:pt x="988013" y="0"/>
                </a:lnTo>
                <a:lnTo>
                  <a:pt x="988013" y="1148852"/>
                </a:lnTo>
                <a:lnTo>
                  <a:pt x="0" y="11488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675895" y="645644"/>
            <a:ext cx="8401809" cy="914851"/>
            <a:chOff x="0" y="0"/>
            <a:chExt cx="3111781" cy="338834"/>
          </a:xfrm>
        </p:grpSpPr>
        <p:sp>
          <p:nvSpPr>
            <p:cNvPr name="Freeform 7" id="7"/>
            <p:cNvSpPr/>
            <p:nvPr/>
          </p:nvSpPr>
          <p:spPr>
            <a:xfrm flipH="false" flipV="false" rot="0">
              <a:off x="0" y="0"/>
              <a:ext cx="3111781" cy="338834"/>
            </a:xfrm>
            <a:custGeom>
              <a:avLst/>
              <a:gdLst/>
              <a:ahLst/>
              <a:cxnLst/>
              <a:rect r="r" b="b" t="t" l="l"/>
              <a:pathLst>
                <a:path h="338834" w="3111781">
                  <a:moveTo>
                    <a:pt x="92146" y="0"/>
                  </a:moveTo>
                  <a:lnTo>
                    <a:pt x="3019635" y="0"/>
                  </a:lnTo>
                  <a:cubicBezTo>
                    <a:pt x="3070526" y="0"/>
                    <a:pt x="3111781" y="41255"/>
                    <a:pt x="3111781" y="92146"/>
                  </a:cubicBezTo>
                  <a:lnTo>
                    <a:pt x="3111781" y="246688"/>
                  </a:lnTo>
                  <a:cubicBezTo>
                    <a:pt x="3111781" y="297579"/>
                    <a:pt x="3070526" y="338834"/>
                    <a:pt x="3019635" y="338834"/>
                  </a:cubicBezTo>
                  <a:lnTo>
                    <a:pt x="92146" y="338834"/>
                  </a:lnTo>
                  <a:cubicBezTo>
                    <a:pt x="41255" y="338834"/>
                    <a:pt x="0" y="297579"/>
                    <a:pt x="0" y="246688"/>
                  </a:cubicBezTo>
                  <a:lnTo>
                    <a:pt x="0" y="92146"/>
                  </a:lnTo>
                  <a:cubicBezTo>
                    <a:pt x="0" y="41255"/>
                    <a:pt x="41255" y="0"/>
                    <a:pt x="92146" y="0"/>
                  </a:cubicBezTo>
                  <a:close/>
                </a:path>
              </a:pathLst>
            </a:custGeom>
            <a:solidFill>
              <a:srgbClr val="F68615"/>
            </a:solidFill>
            <a:ln w="9525" cap="rnd">
              <a:solidFill>
                <a:srgbClr val="F68615"/>
              </a:solidFill>
              <a:prstDash val="solid"/>
              <a:round/>
            </a:ln>
          </p:spPr>
        </p:sp>
        <p:sp>
          <p:nvSpPr>
            <p:cNvPr name="TextBox 8" id="8"/>
            <p:cNvSpPr txBox="true"/>
            <p:nvPr/>
          </p:nvSpPr>
          <p:spPr>
            <a:xfrm>
              <a:off x="0" y="-19050"/>
              <a:ext cx="3111781" cy="357884"/>
            </a:xfrm>
            <a:prstGeom prst="rect">
              <a:avLst/>
            </a:prstGeom>
          </p:spPr>
          <p:txBody>
            <a:bodyPr anchor="ctr" rtlCol="false" tIns="50800" lIns="50800" bIns="50800" rIns="50800"/>
            <a:lstStyle/>
            <a:p>
              <a:pPr algn="ctr">
                <a:lnSpc>
                  <a:spcPts val="2160"/>
                </a:lnSpc>
              </a:pPr>
            </a:p>
          </p:txBody>
        </p:sp>
      </p:grpSp>
      <p:sp>
        <p:nvSpPr>
          <p:cNvPr name="TextBox 9" id="9"/>
          <p:cNvSpPr txBox="true"/>
          <p:nvPr/>
        </p:nvSpPr>
        <p:spPr>
          <a:xfrm rot="0">
            <a:off x="1093714" y="935989"/>
            <a:ext cx="5437130" cy="304800"/>
          </a:xfrm>
          <a:prstGeom prst="rect">
            <a:avLst/>
          </a:prstGeom>
        </p:spPr>
        <p:txBody>
          <a:bodyPr anchor="t" rtlCol="false" tIns="0" lIns="0" bIns="0" rIns="0">
            <a:spAutoFit/>
          </a:bodyPr>
          <a:lstStyle/>
          <a:p>
            <a:pPr algn="l">
              <a:lnSpc>
                <a:spcPts val="2271"/>
              </a:lnSpc>
            </a:pPr>
            <a:r>
              <a:rPr lang="en-US" sz="1892">
                <a:solidFill>
                  <a:srgbClr val="444CA8"/>
                </a:solidFill>
                <a:latin typeface="Poppins"/>
                <a:ea typeface="Poppins"/>
                <a:cs typeface="Poppins"/>
                <a:sym typeface="Poppins"/>
              </a:rPr>
              <a:t>Програмування для мобільних платформ</a:t>
            </a:r>
          </a:p>
        </p:txBody>
      </p:sp>
      <p:sp>
        <p:nvSpPr>
          <p:cNvPr name="TextBox 10" id="10"/>
          <p:cNvSpPr txBox="true"/>
          <p:nvPr/>
        </p:nvSpPr>
        <p:spPr>
          <a:xfrm rot="0">
            <a:off x="6834562" y="984008"/>
            <a:ext cx="1797471" cy="228600"/>
          </a:xfrm>
          <a:prstGeom prst="rect">
            <a:avLst/>
          </a:prstGeom>
        </p:spPr>
        <p:txBody>
          <a:bodyPr anchor="t" rtlCol="false" tIns="0" lIns="0" bIns="0" rIns="0">
            <a:spAutoFit/>
          </a:bodyPr>
          <a:lstStyle/>
          <a:p>
            <a:pPr algn="r">
              <a:lnSpc>
                <a:spcPts val="1736"/>
              </a:lnSpc>
            </a:pPr>
            <a:r>
              <a:rPr lang="en-US" sz="1446">
                <a:solidFill>
                  <a:srgbClr val="444CA8"/>
                </a:solidFill>
                <a:latin typeface="Poppins"/>
                <a:ea typeface="Poppins"/>
                <a:cs typeface="Poppins"/>
                <a:sym typeface="Poppins"/>
              </a:rPr>
              <a:t>2026</a:t>
            </a:r>
          </a:p>
        </p:txBody>
      </p:sp>
      <p:sp>
        <p:nvSpPr>
          <p:cNvPr name="TextBox 11" id="11"/>
          <p:cNvSpPr txBox="true"/>
          <p:nvPr/>
        </p:nvSpPr>
        <p:spPr>
          <a:xfrm rot="0">
            <a:off x="-157608" y="2227123"/>
            <a:ext cx="6992170" cy="1276351"/>
          </a:xfrm>
          <a:prstGeom prst="rect">
            <a:avLst/>
          </a:prstGeom>
        </p:spPr>
        <p:txBody>
          <a:bodyPr anchor="t" rtlCol="false" tIns="0" lIns="0" bIns="0" rIns="0">
            <a:spAutoFit/>
          </a:bodyPr>
          <a:lstStyle/>
          <a:p>
            <a:pPr algn="ctr">
              <a:lnSpc>
                <a:spcPts val="10499"/>
              </a:lnSpc>
            </a:pPr>
            <a:r>
              <a:rPr lang="en-US" sz="7499" b="true">
                <a:solidFill>
                  <a:srgbClr val="444CA8"/>
                </a:solidFill>
                <a:latin typeface="Canva Sans Bold"/>
                <a:ea typeface="Canva Sans Bold"/>
                <a:cs typeface="Canva Sans Bold"/>
                <a:sym typeface="Canva Sans Bold"/>
              </a:rPr>
              <a:t>FinTracker</a:t>
            </a:r>
          </a:p>
        </p:txBody>
      </p:sp>
      <p:sp>
        <p:nvSpPr>
          <p:cNvPr name="TextBox 12" id="12"/>
          <p:cNvSpPr txBox="true"/>
          <p:nvPr/>
        </p:nvSpPr>
        <p:spPr>
          <a:xfrm rot="0">
            <a:off x="1057455" y="3883511"/>
            <a:ext cx="2859599" cy="1861181"/>
          </a:xfrm>
          <a:prstGeom prst="rect">
            <a:avLst/>
          </a:prstGeom>
        </p:spPr>
        <p:txBody>
          <a:bodyPr anchor="t" rtlCol="false" tIns="0" lIns="0" bIns="0" rIns="0">
            <a:spAutoFit/>
          </a:bodyPr>
          <a:lstStyle/>
          <a:p>
            <a:pPr algn="l">
              <a:lnSpc>
                <a:spcPts val="2940"/>
              </a:lnSpc>
            </a:pPr>
            <a:r>
              <a:rPr lang="en-US" b="true" sz="2100" i="true" spc="86">
                <a:solidFill>
                  <a:srgbClr val="F47031"/>
                </a:solidFill>
                <a:latin typeface="Poppins Bold Italics"/>
                <a:ea typeface="Poppins Bold Italics"/>
                <a:cs typeface="Poppins Bold Italics"/>
                <a:sym typeface="Poppins Bold Italics"/>
              </a:rPr>
              <a:t>Команда:</a:t>
            </a:r>
          </a:p>
          <a:p>
            <a:pPr algn="l" marL="453424" indent="-226712" lvl="1">
              <a:lnSpc>
                <a:spcPts val="2940"/>
              </a:lnSpc>
              <a:buFont typeface="Arial"/>
              <a:buChar char="•"/>
            </a:pPr>
            <a:r>
              <a:rPr lang="en-US" b="true" sz="2100" i="true" spc="86">
                <a:solidFill>
                  <a:srgbClr val="444CA8"/>
                </a:solidFill>
                <a:latin typeface="Poppins Bold Italics"/>
                <a:ea typeface="Poppins Bold Italics"/>
                <a:cs typeface="Poppins Bold Italics"/>
                <a:sym typeface="Poppins Bold Italics"/>
              </a:rPr>
              <a:t>Вей Христина</a:t>
            </a:r>
          </a:p>
          <a:p>
            <a:pPr algn="l" marL="453424" indent="-226712" lvl="1">
              <a:lnSpc>
                <a:spcPts val="2940"/>
              </a:lnSpc>
              <a:buFont typeface="Arial"/>
              <a:buChar char="•"/>
            </a:pPr>
            <a:r>
              <a:rPr lang="en-US" b="true" sz="2100" i="true" spc="86">
                <a:solidFill>
                  <a:srgbClr val="444CA8"/>
                </a:solidFill>
                <a:latin typeface="Poppins Bold Italics"/>
                <a:ea typeface="Poppins Bold Italics"/>
                <a:cs typeface="Poppins Bold Italics"/>
                <a:sym typeface="Poppins Bold Italics"/>
              </a:rPr>
              <a:t>Кривий Максим</a:t>
            </a:r>
          </a:p>
          <a:p>
            <a:pPr algn="l" marL="453424" indent="-226712" lvl="1">
              <a:lnSpc>
                <a:spcPts val="2940"/>
              </a:lnSpc>
              <a:buFont typeface="Arial"/>
              <a:buChar char="•"/>
            </a:pPr>
            <a:r>
              <a:rPr lang="en-US" b="true" sz="2100" i="true" spc="86">
                <a:solidFill>
                  <a:srgbClr val="444CA8"/>
                </a:solidFill>
                <a:latin typeface="Poppins Bold Italics"/>
                <a:ea typeface="Poppins Bold Italics"/>
                <a:cs typeface="Poppins Bold Italics"/>
                <a:sym typeface="Poppins Bold Italics"/>
              </a:rPr>
              <a:t>Палюх Олег</a:t>
            </a:r>
          </a:p>
          <a:p>
            <a:pPr algn="l">
              <a:lnSpc>
                <a:spcPts val="294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97875" y="1650810"/>
            <a:ext cx="2455725" cy="4101419"/>
          </a:xfrm>
          <a:custGeom>
            <a:avLst/>
            <a:gdLst/>
            <a:ahLst/>
            <a:cxnLst/>
            <a:rect r="r" b="b" t="t" l="l"/>
            <a:pathLst>
              <a:path h="4101419" w="2455725">
                <a:moveTo>
                  <a:pt x="0" y="0"/>
                </a:moveTo>
                <a:lnTo>
                  <a:pt x="2455725" y="0"/>
                </a:lnTo>
                <a:lnTo>
                  <a:pt x="2455725" y="4101418"/>
                </a:lnTo>
                <a:lnTo>
                  <a:pt x="0" y="4101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4654" y="3557668"/>
            <a:ext cx="3308299" cy="4389120"/>
          </a:xfrm>
          <a:custGeom>
            <a:avLst/>
            <a:gdLst/>
            <a:ahLst/>
            <a:cxnLst/>
            <a:rect r="r" b="b" t="t" l="l"/>
            <a:pathLst>
              <a:path h="4389120" w="3308299">
                <a:moveTo>
                  <a:pt x="0" y="0"/>
                </a:moveTo>
                <a:lnTo>
                  <a:pt x="3308299" y="0"/>
                </a:lnTo>
                <a:lnTo>
                  <a:pt x="3308299" y="4389120"/>
                </a:lnTo>
                <a:lnTo>
                  <a:pt x="0" y="43891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17683" y="5326981"/>
            <a:ext cx="1691806" cy="2926080"/>
          </a:xfrm>
          <a:custGeom>
            <a:avLst/>
            <a:gdLst/>
            <a:ahLst/>
            <a:cxnLst/>
            <a:rect r="r" b="b" t="t" l="l"/>
            <a:pathLst>
              <a:path h="2926080" w="1691806">
                <a:moveTo>
                  <a:pt x="0" y="0"/>
                </a:moveTo>
                <a:lnTo>
                  <a:pt x="1691806" y="0"/>
                </a:lnTo>
                <a:lnTo>
                  <a:pt x="1691806" y="2926080"/>
                </a:lnTo>
                <a:lnTo>
                  <a:pt x="0" y="29260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614289">
            <a:off x="6122872" y="-512458"/>
            <a:ext cx="876383" cy="1529472"/>
          </a:xfrm>
          <a:custGeom>
            <a:avLst/>
            <a:gdLst/>
            <a:ahLst/>
            <a:cxnLst/>
            <a:rect r="r" b="b" t="t" l="l"/>
            <a:pathLst>
              <a:path h="1529472" w="876383">
                <a:moveTo>
                  <a:pt x="0" y="0"/>
                </a:moveTo>
                <a:lnTo>
                  <a:pt x="876383" y="0"/>
                </a:lnTo>
                <a:lnTo>
                  <a:pt x="876383" y="1529472"/>
                </a:lnTo>
                <a:lnTo>
                  <a:pt x="0" y="15294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7558804" y="-122441"/>
            <a:ext cx="1125094" cy="1707923"/>
          </a:xfrm>
          <a:custGeom>
            <a:avLst/>
            <a:gdLst/>
            <a:ahLst/>
            <a:cxnLst/>
            <a:rect r="r" b="b" t="t" l="l"/>
            <a:pathLst>
              <a:path h="1707923" w="1125094">
                <a:moveTo>
                  <a:pt x="0" y="0"/>
                </a:moveTo>
                <a:lnTo>
                  <a:pt x="1125094" y="0"/>
                </a:lnTo>
                <a:lnTo>
                  <a:pt x="1125094" y="1707922"/>
                </a:lnTo>
                <a:lnTo>
                  <a:pt x="0" y="17079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5074652" y="6050360"/>
            <a:ext cx="1125094" cy="1707923"/>
          </a:xfrm>
          <a:custGeom>
            <a:avLst/>
            <a:gdLst/>
            <a:ahLst/>
            <a:cxnLst/>
            <a:rect r="r" b="b" t="t" l="l"/>
            <a:pathLst>
              <a:path h="1707923" w="1125094">
                <a:moveTo>
                  <a:pt x="0" y="0"/>
                </a:moveTo>
                <a:lnTo>
                  <a:pt x="1125094" y="0"/>
                </a:lnTo>
                <a:lnTo>
                  <a:pt x="1125094" y="1707922"/>
                </a:lnTo>
                <a:lnTo>
                  <a:pt x="0" y="17079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392038" y="2151304"/>
            <a:ext cx="5432214" cy="3718556"/>
          </a:xfrm>
          <a:prstGeom prst="rect">
            <a:avLst/>
          </a:prstGeom>
        </p:spPr>
        <p:txBody>
          <a:bodyPr anchor="t" rtlCol="false" tIns="0" lIns="0" bIns="0" rIns="0">
            <a:spAutoFit/>
          </a:bodyPr>
          <a:lstStyle/>
          <a:p>
            <a:pPr algn="ctr">
              <a:lnSpc>
                <a:spcPts val="2940"/>
              </a:lnSpc>
            </a:pPr>
            <a:r>
              <a:rPr lang="en-US" b="true" sz="2100" i="true" spc="86">
                <a:solidFill>
                  <a:srgbClr val="DC701A"/>
                </a:solidFill>
                <a:latin typeface="Poppins Bold Italics"/>
                <a:ea typeface="Poppins Bold Italics"/>
                <a:cs typeface="Poppins Bold Italics"/>
                <a:sym typeface="Poppins Bold Italics"/>
              </a:rPr>
              <a:t>Сучасний Android-додаток для управління особистим та спільним бюджетом. FinTracker допомагає окремим особам та групам відстежувати доходи та витрати, встановлювати ліміти витрат та отримувати чітке уявлення про свої фінансові звички завдяки інтуїтивно зрозумілій візуалізації даних.</a:t>
            </a:r>
          </a:p>
        </p:txBody>
      </p:sp>
      <p:sp>
        <p:nvSpPr>
          <p:cNvPr name="TextBox 10" id="10"/>
          <p:cNvSpPr txBox="true"/>
          <p:nvPr/>
        </p:nvSpPr>
        <p:spPr>
          <a:xfrm rot="0">
            <a:off x="-625131" y="1132524"/>
            <a:ext cx="9150869" cy="685800"/>
          </a:xfrm>
          <a:prstGeom prst="rect">
            <a:avLst/>
          </a:prstGeom>
        </p:spPr>
        <p:txBody>
          <a:bodyPr anchor="t" rtlCol="false" tIns="0" lIns="0" bIns="0" rIns="0">
            <a:spAutoFit/>
          </a:bodyPr>
          <a:lstStyle/>
          <a:p>
            <a:pPr algn="ctr">
              <a:lnSpc>
                <a:spcPts val="5450"/>
              </a:lnSpc>
            </a:pPr>
            <a:r>
              <a:rPr lang="en-US" sz="4542" b="true">
                <a:solidFill>
                  <a:srgbClr val="444CA8"/>
                </a:solidFill>
                <a:latin typeface="Canva Sans Bold"/>
                <a:ea typeface="Canva Sans Bold"/>
                <a:cs typeface="Canva Sans Bold"/>
                <a:sym typeface="Canva Sans Bold"/>
              </a:rPr>
              <a:t>Що таке FinTracker?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15765" y="3712227"/>
            <a:ext cx="1090864" cy="1148278"/>
          </a:xfrm>
          <a:custGeom>
            <a:avLst/>
            <a:gdLst/>
            <a:ahLst/>
            <a:cxnLst/>
            <a:rect r="r" b="b" t="t" l="l"/>
            <a:pathLst>
              <a:path h="1148278" w="1090864">
                <a:moveTo>
                  <a:pt x="0" y="0"/>
                </a:moveTo>
                <a:lnTo>
                  <a:pt x="1090864" y="0"/>
                </a:lnTo>
                <a:lnTo>
                  <a:pt x="1090864" y="1148279"/>
                </a:lnTo>
                <a:lnTo>
                  <a:pt x="0" y="11482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4278" y="4604459"/>
            <a:ext cx="1407403" cy="823331"/>
          </a:xfrm>
          <a:custGeom>
            <a:avLst/>
            <a:gdLst/>
            <a:ahLst/>
            <a:cxnLst/>
            <a:rect r="r" b="b" t="t" l="l"/>
            <a:pathLst>
              <a:path h="823331" w="1407403">
                <a:moveTo>
                  <a:pt x="0" y="0"/>
                </a:moveTo>
                <a:lnTo>
                  <a:pt x="1407403" y="0"/>
                </a:lnTo>
                <a:lnTo>
                  <a:pt x="1407403" y="823331"/>
                </a:lnTo>
                <a:lnTo>
                  <a:pt x="0" y="8233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118407" y="2107772"/>
            <a:ext cx="1006682" cy="1298944"/>
          </a:xfrm>
          <a:custGeom>
            <a:avLst/>
            <a:gdLst/>
            <a:ahLst/>
            <a:cxnLst/>
            <a:rect r="r" b="b" t="t" l="l"/>
            <a:pathLst>
              <a:path h="1298944" w="1006682">
                <a:moveTo>
                  <a:pt x="0" y="0"/>
                </a:moveTo>
                <a:lnTo>
                  <a:pt x="1006681" y="0"/>
                </a:lnTo>
                <a:lnTo>
                  <a:pt x="1006681" y="1298944"/>
                </a:lnTo>
                <a:lnTo>
                  <a:pt x="0" y="12989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81703" y="3170816"/>
            <a:ext cx="1052553" cy="999925"/>
          </a:xfrm>
          <a:custGeom>
            <a:avLst/>
            <a:gdLst/>
            <a:ahLst/>
            <a:cxnLst/>
            <a:rect r="r" b="b" t="t" l="l"/>
            <a:pathLst>
              <a:path h="999925" w="1052553">
                <a:moveTo>
                  <a:pt x="0" y="0"/>
                </a:moveTo>
                <a:lnTo>
                  <a:pt x="1052553" y="0"/>
                </a:lnTo>
                <a:lnTo>
                  <a:pt x="1052553" y="999925"/>
                </a:lnTo>
                <a:lnTo>
                  <a:pt x="0" y="9999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53939" y="279830"/>
            <a:ext cx="1136397" cy="993831"/>
          </a:xfrm>
          <a:custGeom>
            <a:avLst/>
            <a:gdLst/>
            <a:ahLst/>
            <a:cxnLst/>
            <a:rect r="r" b="b" t="t" l="l"/>
            <a:pathLst>
              <a:path h="993831" w="1136397">
                <a:moveTo>
                  <a:pt x="0" y="0"/>
                </a:moveTo>
                <a:lnTo>
                  <a:pt x="1136397" y="0"/>
                </a:lnTo>
                <a:lnTo>
                  <a:pt x="1136397" y="993831"/>
                </a:lnTo>
                <a:lnTo>
                  <a:pt x="0" y="99383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0">
            <a:off x="8061000" y="486559"/>
            <a:ext cx="1136397" cy="993831"/>
          </a:xfrm>
          <a:custGeom>
            <a:avLst/>
            <a:gdLst/>
            <a:ahLst/>
            <a:cxnLst/>
            <a:rect r="r" b="b" t="t" l="l"/>
            <a:pathLst>
              <a:path h="993831" w="1136397">
                <a:moveTo>
                  <a:pt x="1136397" y="0"/>
                </a:moveTo>
                <a:lnTo>
                  <a:pt x="0" y="0"/>
                </a:lnTo>
                <a:lnTo>
                  <a:pt x="0" y="993831"/>
                </a:lnTo>
                <a:lnTo>
                  <a:pt x="1136397" y="993831"/>
                </a:lnTo>
                <a:lnTo>
                  <a:pt x="1136397"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455250" y="4005019"/>
            <a:ext cx="3334147" cy="3848943"/>
          </a:xfrm>
          <a:custGeom>
            <a:avLst/>
            <a:gdLst/>
            <a:ahLst/>
            <a:cxnLst/>
            <a:rect r="r" b="b" t="t" l="l"/>
            <a:pathLst>
              <a:path h="3848943" w="3334147">
                <a:moveTo>
                  <a:pt x="0" y="0"/>
                </a:moveTo>
                <a:lnTo>
                  <a:pt x="3334147" y="0"/>
                </a:lnTo>
                <a:lnTo>
                  <a:pt x="3334147" y="3848943"/>
                </a:lnTo>
                <a:lnTo>
                  <a:pt x="0" y="384894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2238413" y="4730374"/>
            <a:ext cx="2469340" cy="609600"/>
          </a:xfrm>
          <a:prstGeom prst="rect">
            <a:avLst/>
          </a:prstGeom>
        </p:spPr>
        <p:txBody>
          <a:bodyPr anchor="t" rtlCol="false" tIns="0" lIns="0" bIns="0" rIns="0">
            <a:spAutoFit/>
          </a:bodyPr>
          <a:lstStyle/>
          <a:p>
            <a:pPr algn="l">
              <a:lnSpc>
                <a:spcPts val="2399"/>
              </a:lnSpc>
            </a:pPr>
            <a:r>
              <a:rPr lang="en-US" sz="1999" i="true">
                <a:solidFill>
                  <a:srgbClr val="DC701A"/>
                </a:solidFill>
                <a:latin typeface="Poppins Italics"/>
                <a:ea typeface="Poppins Italics"/>
                <a:cs typeface="Poppins Italics"/>
                <a:sym typeface="Poppins Italics"/>
              </a:rPr>
              <a:t>Аналізувати свої фінансові звички</a:t>
            </a:r>
          </a:p>
        </p:txBody>
      </p:sp>
      <p:sp>
        <p:nvSpPr>
          <p:cNvPr name="Freeform 11" id="11"/>
          <p:cNvSpPr/>
          <p:nvPr/>
        </p:nvSpPr>
        <p:spPr>
          <a:xfrm flipH="true" flipV="false" rot="0">
            <a:off x="7805735" y="3891579"/>
            <a:ext cx="3334147" cy="3848943"/>
          </a:xfrm>
          <a:custGeom>
            <a:avLst/>
            <a:gdLst/>
            <a:ahLst/>
            <a:cxnLst/>
            <a:rect r="r" b="b" t="t" l="l"/>
            <a:pathLst>
              <a:path h="3848943" w="3334147">
                <a:moveTo>
                  <a:pt x="3334146" y="0"/>
                </a:moveTo>
                <a:lnTo>
                  <a:pt x="0" y="0"/>
                </a:lnTo>
                <a:lnTo>
                  <a:pt x="0" y="3848943"/>
                </a:lnTo>
                <a:lnTo>
                  <a:pt x="3334146" y="3848943"/>
                </a:lnTo>
                <a:lnTo>
                  <a:pt x="3334146"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737062" y="1915077"/>
            <a:ext cx="1141835" cy="933450"/>
          </a:xfrm>
          <a:custGeom>
            <a:avLst/>
            <a:gdLst/>
            <a:ahLst/>
            <a:cxnLst/>
            <a:rect r="r" b="b" t="t" l="l"/>
            <a:pathLst>
              <a:path h="933450" w="1141835">
                <a:moveTo>
                  <a:pt x="0" y="0"/>
                </a:moveTo>
                <a:lnTo>
                  <a:pt x="1141835" y="0"/>
                </a:lnTo>
                <a:lnTo>
                  <a:pt x="1141835" y="933450"/>
                </a:lnTo>
                <a:lnTo>
                  <a:pt x="0" y="93345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3" id="13"/>
          <p:cNvSpPr txBox="true"/>
          <p:nvPr/>
        </p:nvSpPr>
        <p:spPr>
          <a:xfrm rot="0">
            <a:off x="2146945" y="1919839"/>
            <a:ext cx="1990596" cy="904875"/>
          </a:xfrm>
          <a:prstGeom prst="rect">
            <a:avLst/>
          </a:prstGeom>
        </p:spPr>
        <p:txBody>
          <a:bodyPr anchor="t" rtlCol="false" tIns="0" lIns="0" bIns="0" rIns="0">
            <a:spAutoFit/>
          </a:bodyPr>
          <a:lstStyle/>
          <a:p>
            <a:pPr algn="l">
              <a:lnSpc>
                <a:spcPts val="2399"/>
              </a:lnSpc>
            </a:pPr>
            <a:r>
              <a:rPr lang="en-US" sz="1999" i="true">
                <a:solidFill>
                  <a:srgbClr val="DC701A"/>
                </a:solidFill>
                <a:latin typeface="Poppins Italics"/>
                <a:ea typeface="Poppins Italics"/>
                <a:cs typeface="Poppins Italics"/>
                <a:sym typeface="Poppins Italics"/>
              </a:rPr>
              <a:t>Контролювати доходи та витрати</a:t>
            </a:r>
          </a:p>
        </p:txBody>
      </p:sp>
      <p:sp>
        <p:nvSpPr>
          <p:cNvPr name="TextBox 14" id="14"/>
          <p:cNvSpPr txBox="true"/>
          <p:nvPr/>
        </p:nvSpPr>
        <p:spPr>
          <a:xfrm rot="0">
            <a:off x="6544754" y="4081219"/>
            <a:ext cx="2211112" cy="609600"/>
          </a:xfrm>
          <a:prstGeom prst="rect">
            <a:avLst/>
          </a:prstGeom>
        </p:spPr>
        <p:txBody>
          <a:bodyPr anchor="t" rtlCol="false" tIns="0" lIns="0" bIns="0" rIns="0">
            <a:spAutoFit/>
          </a:bodyPr>
          <a:lstStyle/>
          <a:p>
            <a:pPr algn="l">
              <a:lnSpc>
                <a:spcPts val="2399"/>
              </a:lnSpc>
            </a:pPr>
            <a:r>
              <a:rPr lang="en-US" sz="1999" i="true">
                <a:solidFill>
                  <a:srgbClr val="DC701A"/>
                </a:solidFill>
                <a:latin typeface="Poppins Italics"/>
                <a:ea typeface="Poppins Italics"/>
                <a:cs typeface="Poppins Italics"/>
                <a:sym typeface="Poppins Italics"/>
              </a:rPr>
              <a:t>Встановлювати фінансові ліміти</a:t>
            </a:r>
          </a:p>
        </p:txBody>
      </p:sp>
      <p:sp>
        <p:nvSpPr>
          <p:cNvPr name="TextBox 15" id="15"/>
          <p:cNvSpPr txBox="true"/>
          <p:nvPr/>
        </p:nvSpPr>
        <p:spPr>
          <a:xfrm rot="0">
            <a:off x="6639114" y="2204794"/>
            <a:ext cx="2050003" cy="1200150"/>
          </a:xfrm>
          <a:prstGeom prst="rect">
            <a:avLst/>
          </a:prstGeom>
        </p:spPr>
        <p:txBody>
          <a:bodyPr anchor="t" rtlCol="false" tIns="0" lIns="0" bIns="0" rIns="0">
            <a:spAutoFit/>
          </a:bodyPr>
          <a:lstStyle/>
          <a:p>
            <a:pPr algn="l">
              <a:lnSpc>
                <a:spcPts val="2399"/>
              </a:lnSpc>
            </a:pPr>
            <a:r>
              <a:rPr lang="en-US" sz="1999" i="true">
                <a:solidFill>
                  <a:srgbClr val="DC701A"/>
                </a:solidFill>
                <a:latin typeface="Poppins Italics"/>
                <a:ea typeface="Poppins Italics"/>
                <a:cs typeface="Poppins Italics"/>
                <a:sym typeface="Poppins Italics"/>
              </a:rPr>
              <a:t>Оцінювати витрати в еквіваленті робочого часу</a:t>
            </a:r>
          </a:p>
        </p:txBody>
      </p:sp>
      <p:sp>
        <p:nvSpPr>
          <p:cNvPr name="TextBox 16" id="16"/>
          <p:cNvSpPr txBox="true"/>
          <p:nvPr/>
        </p:nvSpPr>
        <p:spPr>
          <a:xfrm rot="0">
            <a:off x="2146945" y="3356453"/>
            <a:ext cx="2652278" cy="609600"/>
          </a:xfrm>
          <a:prstGeom prst="rect">
            <a:avLst/>
          </a:prstGeom>
        </p:spPr>
        <p:txBody>
          <a:bodyPr anchor="t" rtlCol="false" tIns="0" lIns="0" bIns="0" rIns="0">
            <a:spAutoFit/>
          </a:bodyPr>
          <a:lstStyle/>
          <a:p>
            <a:pPr algn="l">
              <a:lnSpc>
                <a:spcPts val="2399"/>
              </a:lnSpc>
            </a:pPr>
            <a:r>
              <a:rPr lang="en-US" sz="1999" i="true">
                <a:solidFill>
                  <a:srgbClr val="DC701A"/>
                </a:solidFill>
                <a:latin typeface="Poppins Italics"/>
                <a:ea typeface="Poppins Italics"/>
                <a:cs typeface="Poppins Italics"/>
                <a:sym typeface="Poppins Italics"/>
              </a:rPr>
              <a:t>Керувати спільним бюджетом у групах</a:t>
            </a:r>
          </a:p>
        </p:txBody>
      </p:sp>
      <p:sp>
        <p:nvSpPr>
          <p:cNvPr name="TextBox 17" id="17"/>
          <p:cNvSpPr txBox="true"/>
          <p:nvPr/>
        </p:nvSpPr>
        <p:spPr>
          <a:xfrm rot="0">
            <a:off x="2111700" y="384708"/>
            <a:ext cx="5530201" cy="1152525"/>
          </a:xfrm>
          <a:prstGeom prst="rect">
            <a:avLst/>
          </a:prstGeom>
        </p:spPr>
        <p:txBody>
          <a:bodyPr anchor="t" rtlCol="false" tIns="0" lIns="0" bIns="0" rIns="0">
            <a:spAutoFit/>
          </a:bodyPr>
          <a:lstStyle/>
          <a:p>
            <a:pPr algn="l">
              <a:lnSpc>
                <a:spcPts val="5573"/>
              </a:lnSpc>
            </a:pPr>
            <a:r>
              <a:rPr lang="en-US" sz="4644" i="true" b="true">
                <a:solidFill>
                  <a:srgbClr val="444CA8"/>
                </a:solidFill>
                <a:latin typeface="Poppins Bold Italics"/>
                <a:ea typeface="Poppins Bold Italics"/>
                <a:cs typeface="Poppins Bold Italics"/>
                <a:sym typeface="Poppins Bold Italics"/>
              </a:rPr>
              <a:t>Цiль застосунку  -</a:t>
            </a:r>
          </a:p>
          <a:p>
            <a:pPr algn="ctr">
              <a:lnSpc>
                <a:spcPts val="3293"/>
              </a:lnSpc>
            </a:pPr>
            <a:r>
              <a:rPr lang="en-US" b="true" sz="2744" i="true">
                <a:solidFill>
                  <a:srgbClr val="DC701A"/>
                </a:solidFill>
                <a:latin typeface="Poppins Bold Italics"/>
                <a:ea typeface="Poppins Bold Italics"/>
                <a:cs typeface="Poppins Bold Italics"/>
                <a:sym typeface="Poppins Bold Italics"/>
              </a:rPr>
              <a:t>допомогти користувачам :</a:t>
            </a:r>
          </a:p>
        </p:txBody>
      </p:sp>
      <p:sp>
        <p:nvSpPr>
          <p:cNvPr name="TextBox 18" id="18"/>
          <p:cNvSpPr txBox="true"/>
          <p:nvPr/>
        </p:nvSpPr>
        <p:spPr>
          <a:xfrm rot="0">
            <a:off x="1287555" y="5759079"/>
            <a:ext cx="7044916" cy="1350691"/>
          </a:xfrm>
          <a:prstGeom prst="rect">
            <a:avLst/>
          </a:prstGeom>
        </p:spPr>
        <p:txBody>
          <a:bodyPr anchor="t" rtlCol="false" tIns="0" lIns="0" bIns="0" rIns="0">
            <a:spAutoFit/>
          </a:bodyPr>
          <a:lstStyle/>
          <a:p>
            <a:pPr algn="ctr">
              <a:lnSpc>
                <a:spcPts val="3513"/>
              </a:lnSpc>
            </a:pPr>
            <a:r>
              <a:rPr lang="en-US" b="true" sz="2927" i="true">
                <a:solidFill>
                  <a:srgbClr val="444CA8"/>
                </a:solidFill>
                <a:latin typeface="Poppins Bold Italics"/>
                <a:ea typeface="Poppins Bold Italics"/>
                <a:cs typeface="Poppins Bold Italics"/>
                <a:sym typeface="Poppins Bold Italics"/>
              </a:rPr>
              <a:t>Мета застосунку — зробити фiнансовий контроль простим, наочним та дисциплiнованим</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59533" y="51240"/>
            <a:ext cx="1125094" cy="1707923"/>
          </a:xfrm>
          <a:custGeom>
            <a:avLst/>
            <a:gdLst/>
            <a:ahLst/>
            <a:cxnLst/>
            <a:rect r="r" b="b" t="t" l="l"/>
            <a:pathLst>
              <a:path h="1707923" w="1125094">
                <a:moveTo>
                  <a:pt x="0" y="0"/>
                </a:moveTo>
                <a:lnTo>
                  <a:pt x="1125094" y="0"/>
                </a:lnTo>
                <a:lnTo>
                  <a:pt x="1125094" y="1707922"/>
                </a:lnTo>
                <a:lnTo>
                  <a:pt x="0" y="17079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89567" y="994841"/>
            <a:ext cx="8774466" cy="6107230"/>
            <a:chOff x="0" y="0"/>
            <a:chExt cx="3249802" cy="2261937"/>
          </a:xfrm>
        </p:grpSpPr>
        <p:sp>
          <p:nvSpPr>
            <p:cNvPr name="Freeform 5" id="5"/>
            <p:cNvSpPr/>
            <p:nvPr/>
          </p:nvSpPr>
          <p:spPr>
            <a:xfrm flipH="false" flipV="false" rot="0">
              <a:off x="0" y="0"/>
              <a:ext cx="3249802" cy="2261937"/>
            </a:xfrm>
            <a:custGeom>
              <a:avLst/>
              <a:gdLst/>
              <a:ahLst/>
              <a:cxnLst/>
              <a:rect r="r" b="b" t="t" l="l"/>
              <a:pathLst>
                <a:path h="2261937" w="3249802">
                  <a:moveTo>
                    <a:pt x="0" y="0"/>
                  </a:moveTo>
                  <a:lnTo>
                    <a:pt x="3249802" y="0"/>
                  </a:lnTo>
                  <a:lnTo>
                    <a:pt x="3249802" y="2261937"/>
                  </a:lnTo>
                  <a:lnTo>
                    <a:pt x="0" y="2261937"/>
                  </a:lnTo>
                  <a:close/>
                </a:path>
              </a:pathLst>
            </a:custGeom>
            <a:solidFill>
              <a:srgbClr val="444CA8"/>
            </a:solidFill>
          </p:spPr>
        </p:sp>
        <p:sp>
          <p:nvSpPr>
            <p:cNvPr name="TextBox 6" id="6"/>
            <p:cNvSpPr txBox="true"/>
            <p:nvPr/>
          </p:nvSpPr>
          <p:spPr>
            <a:xfrm>
              <a:off x="0" y="-19050"/>
              <a:ext cx="3249802" cy="2280987"/>
            </a:xfrm>
            <a:prstGeom prst="rect">
              <a:avLst/>
            </a:prstGeom>
          </p:spPr>
          <p:txBody>
            <a:bodyPr anchor="ctr" rtlCol="false" tIns="50800" lIns="50800" bIns="50800" rIns="50800"/>
            <a:lstStyle/>
            <a:p>
              <a:pPr algn="ctr">
                <a:lnSpc>
                  <a:spcPts val="2160"/>
                </a:lnSpc>
              </a:pPr>
            </a:p>
          </p:txBody>
        </p:sp>
      </p:grpSp>
      <p:graphicFrame>
        <p:nvGraphicFramePr>
          <p:cNvPr name="Object 7" id="7"/>
          <p:cNvGraphicFramePr/>
          <p:nvPr/>
        </p:nvGraphicFramePr>
        <p:xfrm>
          <a:off x="561097" y="1041468"/>
          <a:ext cx="8801100" cy="3771900"/>
        </p:xfrm>
        <a:graphic>
          <a:graphicData uri="http://schemas.openxmlformats.org/presentationml/2006/ole">
            <p:oleObj imgW="10553700" imgH="5524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8" id="8"/>
          <p:cNvSpPr txBox="true"/>
          <p:nvPr/>
        </p:nvSpPr>
        <p:spPr>
          <a:xfrm rot="0">
            <a:off x="2018642" y="215268"/>
            <a:ext cx="5487715" cy="689933"/>
          </a:xfrm>
          <a:prstGeom prst="rect">
            <a:avLst/>
          </a:prstGeom>
        </p:spPr>
        <p:txBody>
          <a:bodyPr anchor="t" rtlCol="false" tIns="0" lIns="0" bIns="0" rIns="0">
            <a:spAutoFit/>
          </a:bodyPr>
          <a:lstStyle/>
          <a:p>
            <a:pPr algn="ctr">
              <a:lnSpc>
                <a:spcPts val="5137"/>
              </a:lnSpc>
              <a:spcBef>
                <a:spcPct val="0"/>
              </a:spcBef>
            </a:pPr>
            <a:r>
              <a:rPr lang="en-US" b="true" sz="4281">
                <a:solidFill>
                  <a:srgbClr val="444CA8"/>
                </a:solidFill>
                <a:latin typeface="Poppins Bold"/>
                <a:ea typeface="Poppins Bold"/>
                <a:cs typeface="Poppins Bold"/>
                <a:sym typeface="Poppins Bold"/>
              </a:rPr>
              <a:t>Аналiз конкурентiв</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686138"/>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678585" y="1732913"/>
            <a:ext cx="3705920" cy="843786"/>
            <a:chOff x="0" y="0"/>
            <a:chExt cx="1372563" cy="312513"/>
          </a:xfrm>
        </p:grpSpPr>
        <p:sp>
          <p:nvSpPr>
            <p:cNvPr name="Freeform 4" id="4"/>
            <p:cNvSpPr/>
            <p:nvPr/>
          </p:nvSpPr>
          <p:spPr>
            <a:xfrm flipH="false" flipV="false" rot="0">
              <a:off x="0" y="0"/>
              <a:ext cx="1372563" cy="312513"/>
            </a:xfrm>
            <a:custGeom>
              <a:avLst/>
              <a:gdLst/>
              <a:ahLst/>
              <a:cxnLst/>
              <a:rect r="r" b="b" t="t" l="l"/>
              <a:pathLst>
                <a:path h="312513" w="1372563">
                  <a:moveTo>
                    <a:pt x="75206" y="0"/>
                  </a:moveTo>
                  <a:lnTo>
                    <a:pt x="1297356" y="0"/>
                  </a:lnTo>
                  <a:cubicBezTo>
                    <a:pt x="1338892" y="0"/>
                    <a:pt x="1372563" y="33671"/>
                    <a:pt x="1372563" y="75206"/>
                  </a:cubicBezTo>
                  <a:lnTo>
                    <a:pt x="1372563" y="237307"/>
                  </a:lnTo>
                  <a:cubicBezTo>
                    <a:pt x="1372563" y="257253"/>
                    <a:pt x="1364639" y="276382"/>
                    <a:pt x="1350535" y="290486"/>
                  </a:cubicBezTo>
                  <a:cubicBezTo>
                    <a:pt x="1336432" y="304590"/>
                    <a:pt x="1317302" y="312513"/>
                    <a:pt x="1297356" y="312513"/>
                  </a:cubicBezTo>
                  <a:lnTo>
                    <a:pt x="75206" y="312513"/>
                  </a:lnTo>
                  <a:cubicBezTo>
                    <a:pt x="33671" y="312513"/>
                    <a:pt x="0" y="278842"/>
                    <a:pt x="0" y="237307"/>
                  </a:cubicBezTo>
                  <a:lnTo>
                    <a:pt x="0" y="75206"/>
                  </a:lnTo>
                  <a:cubicBezTo>
                    <a:pt x="0" y="33671"/>
                    <a:pt x="33671" y="0"/>
                    <a:pt x="75206" y="0"/>
                  </a:cubicBezTo>
                  <a:close/>
                </a:path>
              </a:pathLst>
            </a:custGeom>
            <a:solidFill>
              <a:srgbClr val="FABA43"/>
            </a:solidFill>
          </p:spPr>
        </p:sp>
        <p:sp>
          <p:nvSpPr>
            <p:cNvPr name="TextBox 5" id="5"/>
            <p:cNvSpPr txBox="true"/>
            <p:nvPr/>
          </p:nvSpPr>
          <p:spPr>
            <a:xfrm>
              <a:off x="0" y="-19050"/>
              <a:ext cx="1372563" cy="331563"/>
            </a:xfrm>
            <a:prstGeom prst="rect">
              <a:avLst/>
            </a:prstGeom>
          </p:spPr>
          <p:txBody>
            <a:bodyPr anchor="ctr" rtlCol="false" tIns="50800" lIns="50800" bIns="50800" rIns="50800"/>
            <a:lstStyle/>
            <a:p>
              <a:pPr algn="ctr">
                <a:lnSpc>
                  <a:spcPts val="2160"/>
                </a:lnSpc>
              </a:pPr>
            </a:p>
          </p:txBody>
        </p:sp>
      </p:grpSp>
      <p:sp>
        <p:nvSpPr>
          <p:cNvPr name="Freeform 6" id="6"/>
          <p:cNvSpPr/>
          <p:nvPr/>
        </p:nvSpPr>
        <p:spPr>
          <a:xfrm flipH="false" flipV="false" rot="0">
            <a:off x="1073275" y="2617761"/>
            <a:ext cx="484546" cy="490792"/>
          </a:xfrm>
          <a:custGeom>
            <a:avLst/>
            <a:gdLst/>
            <a:ahLst/>
            <a:cxnLst/>
            <a:rect r="r" b="b" t="t" l="l"/>
            <a:pathLst>
              <a:path h="490792" w="484546">
                <a:moveTo>
                  <a:pt x="0" y="0"/>
                </a:moveTo>
                <a:lnTo>
                  <a:pt x="484545" y="0"/>
                </a:lnTo>
                <a:lnTo>
                  <a:pt x="484545" y="490792"/>
                </a:lnTo>
                <a:lnTo>
                  <a:pt x="0" y="4907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37385" y="-326536"/>
            <a:ext cx="1074770" cy="1239253"/>
          </a:xfrm>
          <a:custGeom>
            <a:avLst/>
            <a:gdLst/>
            <a:ahLst/>
            <a:cxnLst/>
            <a:rect r="r" b="b" t="t" l="l"/>
            <a:pathLst>
              <a:path h="1239253" w="1074770">
                <a:moveTo>
                  <a:pt x="0" y="0"/>
                </a:moveTo>
                <a:lnTo>
                  <a:pt x="1074770" y="0"/>
                </a:lnTo>
                <a:lnTo>
                  <a:pt x="1074770" y="1239253"/>
                </a:lnTo>
                <a:lnTo>
                  <a:pt x="0" y="12392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170880" y="1726652"/>
            <a:ext cx="3705920" cy="843786"/>
            <a:chOff x="0" y="0"/>
            <a:chExt cx="1372563" cy="312513"/>
          </a:xfrm>
        </p:grpSpPr>
        <p:sp>
          <p:nvSpPr>
            <p:cNvPr name="Freeform 9" id="9"/>
            <p:cNvSpPr/>
            <p:nvPr/>
          </p:nvSpPr>
          <p:spPr>
            <a:xfrm flipH="false" flipV="false" rot="0">
              <a:off x="0" y="0"/>
              <a:ext cx="1372563" cy="312513"/>
            </a:xfrm>
            <a:custGeom>
              <a:avLst/>
              <a:gdLst/>
              <a:ahLst/>
              <a:cxnLst/>
              <a:rect r="r" b="b" t="t" l="l"/>
              <a:pathLst>
                <a:path h="312513" w="1372563">
                  <a:moveTo>
                    <a:pt x="75206" y="0"/>
                  </a:moveTo>
                  <a:lnTo>
                    <a:pt x="1297356" y="0"/>
                  </a:lnTo>
                  <a:cubicBezTo>
                    <a:pt x="1338892" y="0"/>
                    <a:pt x="1372563" y="33671"/>
                    <a:pt x="1372563" y="75206"/>
                  </a:cubicBezTo>
                  <a:lnTo>
                    <a:pt x="1372563" y="237307"/>
                  </a:lnTo>
                  <a:cubicBezTo>
                    <a:pt x="1372563" y="257253"/>
                    <a:pt x="1364639" y="276382"/>
                    <a:pt x="1350535" y="290486"/>
                  </a:cubicBezTo>
                  <a:cubicBezTo>
                    <a:pt x="1336432" y="304590"/>
                    <a:pt x="1317302" y="312513"/>
                    <a:pt x="1297356" y="312513"/>
                  </a:cubicBezTo>
                  <a:lnTo>
                    <a:pt x="75206" y="312513"/>
                  </a:lnTo>
                  <a:cubicBezTo>
                    <a:pt x="33671" y="312513"/>
                    <a:pt x="0" y="278842"/>
                    <a:pt x="0" y="237307"/>
                  </a:cubicBezTo>
                  <a:lnTo>
                    <a:pt x="0" y="75206"/>
                  </a:lnTo>
                  <a:cubicBezTo>
                    <a:pt x="0" y="33671"/>
                    <a:pt x="33671" y="0"/>
                    <a:pt x="75206" y="0"/>
                  </a:cubicBezTo>
                  <a:close/>
                </a:path>
              </a:pathLst>
            </a:custGeom>
            <a:solidFill>
              <a:srgbClr val="FF66C4"/>
            </a:solidFill>
          </p:spPr>
        </p:sp>
        <p:sp>
          <p:nvSpPr>
            <p:cNvPr name="TextBox 10" id="10"/>
            <p:cNvSpPr txBox="true"/>
            <p:nvPr/>
          </p:nvSpPr>
          <p:spPr>
            <a:xfrm>
              <a:off x="0" y="-19050"/>
              <a:ext cx="1372563" cy="331563"/>
            </a:xfrm>
            <a:prstGeom prst="rect">
              <a:avLst/>
            </a:prstGeom>
          </p:spPr>
          <p:txBody>
            <a:bodyPr anchor="ctr" rtlCol="false" tIns="50800" lIns="50800" bIns="50800" rIns="50800"/>
            <a:lstStyle/>
            <a:p>
              <a:pPr algn="ctr">
                <a:lnSpc>
                  <a:spcPts val="2160"/>
                </a:lnSpc>
              </a:pPr>
            </a:p>
          </p:txBody>
        </p:sp>
      </p:grpSp>
      <p:sp>
        <p:nvSpPr>
          <p:cNvPr name="Freeform 11" id="11"/>
          <p:cNvSpPr/>
          <p:nvPr/>
        </p:nvSpPr>
        <p:spPr>
          <a:xfrm flipH="false" flipV="false" rot="0">
            <a:off x="602594" y="1401670"/>
            <a:ext cx="1545216" cy="1425462"/>
          </a:xfrm>
          <a:custGeom>
            <a:avLst/>
            <a:gdLst/>
            <a:ahLst/>
            <a:cxnLst/>
            <a:rect r="r" b="b" t="t" l="l"/>
            <a:pathLst>
              <a:path h="1425462" w="1545216">
                <a:moveTo>
                  <a:pt x="0" y="0"/>
                </a:moveTo>
                <a:lnTo>
                  <a:pt x="1545216" y="0"/>
                </a:lnTo>
                <a:lnTo>
                  <a:pt x="1545216" y="1425462"/>
                </a:lnTo>
                <a:lnTo>
                  <a:pt x="0" y="1425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1170880" y="3568509"/>
            <a:ext cx="3705920" cy="843786"/>
            <a:chOff x="0" y="0"/>
            <a:chExt cx="1372563" cy="312513"/>
          </a:xfrm>
        </p:grpSpPr>
        <p:sp>
          <p:nvSpPr>
            <p:cNvPr name="Freeform 13" id="13"/>
            <p:cNvSpPr/>
            <p:nvPr/>
          </p:nvSpPr>
          <p:spPr>
            <a:xfrm flipH="false" flipV="false" rot="0">
              <a:off x="0" y="0"/>
              <a:ext cx="1372563" cy="312513"/>
            </a:xfrm>
            <a:custGeom>
              <a:avLst/>
              <a:gdLst/>
              <a:ahLst/>
              <a:cxnLst/>
              <a:rect r="r" b="b" t="t" l="l"/>
              <a:pathLst>
                <a:path h="312513" w="1372563">
                  <a:moveTo>
                    <a:pt x="75206" y="0"/>
                  </a:moveTo>
                  <a:lnTo>
                    <a:pt x="1297356" y="0"/>
                  </a:lnTo>
                  <a:cubicBezTo>
                    <a:pt x="1338892" y="0"/>
                    <a:pt x="1372563" y="33671"/>
                    <a:pt x="1372563" y="75206"/>
                  </a:cubicBezTo>
                  <a:lnTo>
                    <a:pt x="1372563" y="237307"/>
                  </a:lnTo>
                  <a:cubicBezTo>
                    <a:pt x="1372563" y="257253"/>
                    <a:pt x="1364639" y="276382"/>
                    <a:pt x="1350535" y="290486"/>
                  </a:cubicBezTo>
                  <a:cubicBezTo>
                    <a:pt x="1336432" y="304590"/>
                    <a:pt x="1317302" y="312513"/>
                    <a:pt x="1297356" y="312513"/>
                  </a:cubicBezTo>
                  <a:lnTo>
                    <a:pt x="75206" y="312513"/>
                  </a:lnTo>
                  <a:cubicBezTo>
                    <a:pt x="33671" y="312513"/>
                    <a:pt x="0" y="278842"/>
                    <a:pt x="0" y="237307"/>
                  </a:cubicBezTo>
                  <a:lnTo>
                    <a:pt x="0" y="75206"/>
                  </a:lnTo>
                  <a:cubicBezTo>
                    <a:pt x="0" y="33671"/>
                    <a:pt x="33671" y="0"/>
                    <a:pt x="75206" y="0"/>
                  </a:cubicBezTo>
                  <a:close/>
                </a:path>
              </a:pathLst>
            </a:custGeom>
            <a:solidFill>
              <a:srgbClr val="FABA43"/>
            </a:solidFill>
          </p:spPr>
        </p:sp>
        <p:sp>
          <p:nvSpPr>
            <p:cNvPr name="TextBox 14" id="14"/>
            <p:cNvSpPr txBox="true"/>
            <p:nvPr/>
          </p:nvSpPr>
          <p:spPr>
            <a:xfrm>
              <a:off x="0" y="-19050"/>
              <a:ext cx="1372563" cy="331563"/>
            </a:xfrm>
            <a:prstGeom prst="rect">
              <a:avLst/>
            </a:prstGeom>
          </p:spPr>
          <p:txBody>
            <a:bodyPr anchor="ctr" rtlCol="false" tIns="50800" lIns="50800" bIns="50800" rIns="50800"/>
            <a:lstStyle/>
            <a:p>
              <a:pPr algn="ctr">
                <a:lnSpc>
                  <a:spcPts val="2160"/>
                </a:lnSpc>
              </a:pPr>
            </a:p>
          </p:txBody>
        </p:sp>
      </p:grpSp>
      <p:sp>
        <p:nvSpPr>
          <p:cNvPr name="Freeform 15" id="15"/>
          <p:cNvSpPr/>
          <p:nvPr/>
        </p:nvSpPr>
        <p:spPr>
          <a:xfrm flipH="false" flipV="false" rot="0">
            <a:off x="731520" y="3164253"/>
            <a:ext cx="1102766" cy="1463040"/>
          </a:xfrm>
          <a:custGeom>
            <a:avLst/>
            <a:gdLst/>
            <a:ahLst/>
            <a:cxnLst/>
            <a:rect r="r" b="b" t="t" l="l"/>
            <a:pathLst>
              <a:path h="1463040" w="1102766">
                <a:moveTo>
                  <a:pt x="0" y="0"/>
                </a:moveTo>
                <a:lnTo>
                  <a:pt x="1102766" y="0"/>
                </a:lnTo>
                <a:lnTo>
                  <a:pt x="1102766" y="1463040"/>
                </a:lnTo>
                <a:lnTo>
                  <a:pt x="0" y="14630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6" id="16"/>
          <p:cNvGrpSpPr/>
          <p:nvPr/>
        </p:nvGrpSpPr>
        <p:grpSpPr>
          <a:xfrm rot="0">
            <a:off x="5678585" y="3541507"/>
            <a:ext cx="3705920" cy="843786"/>
            <a:chOff x="0" y="0"/>
            <a:chExt cx="1372563" cy="312513"/>
          </a:xfrm>
        </p:grpSpPr>
        <p:sp>
          <p:nvSpPr>
            <p:cNvPr name="Freeform 17" id="17"/>
            <p:cNvSpPr/>
            <p:nvPr/>
          </p:nvSpPr>
          <p:spPr>
            <a:xfrm flipH="false" flipV="false" rot="0">
              <a:off x="0" y="0"/>
              <a:ext cx="1372563" cy="312513"/>
            </a:xfrm>
            <a:custGeom>
              <a:avLst/>
              <a:gdLst/>
              <a:ahLst/>
              <a:cxnLst/>
              <a:rect r="r" b="b" t="t" l="l"/>
              <a:pathLst>
                <a:path h="312513" w="1372563">
                  <a:moveTo>
                    <a:pt x="75206" y="0"/>
                  </a:moveTo>
                  <a:lnTo>
                    <a:pt x="1297356" y="0"/>
                  </a:lnTo>
                  <a:cubicBezTo>
                    <a:pt x="1338892" y="0"/>
                    <a:pt x="1372563" y="33671"/>
                    <a:pt x="1372563" y="75206"/>
                  </a:cubicBezTo>
                  <a:lnTo>
                    <a:pt x="1372563" y="237307"/>
                  </a:lnTo>
                  <a:cubicBezTo>
                    <a:pt x="1372563" y="257253"/>
                    <a:pt x="1364639" y="276382"/>
                    <a:pt x="1350535" y="290486"/>
                  </a:cubicBezTo>
                  <a:cubicBezTo>
                    <a:pt x="1336432" y="304590"/>
                    <a:pt x="1317302" y="312513"/>
                    <a:pt x="1297356" y="312513"/>
                  </a:cubicBezTo>
                  <a:lnTo>
                    <a:pt x="75206" y="312513"/>
                  </a:lnTo>
                  <a:cubicBezTo>
                    <a:pt x="33671" y="312513"/>
                    <a:pt x="0" y="278842"/>
                    <a:pt x="0" y="237307"/>
                  </a:cubicBezTo>
                  <a:lnTo>
                    <a:pt x="0" y="75206"/>
                  </a:lnTo>
                  <a:cubicBezTo>
                    <a:pt x="0" y="33671"/>
                    <a:pt x="33671" y="0"/>
                    <a:pt x="75206" y="0"/>
                  </a:cubicBezTo>
                  <a:close/>
                </a:path>
              </a:pathLst>
            </a:custGeom>
            <a:solidFill>
              <a:srgbClr val="FF66C4"/>
            </a:solidFill>
          </p:spPr>
        </p:sp>
        <p:sp>
          <p:nvSpPr>
            <p:cNvPr name="TextBox 18" id="18"/>
            <p:cNvSpPr txBox="true"/>
            <p:nvPr/>
          </p:nvSpPr>
          <p:spPr>
            <a:xfrm>
              <a:off x="0" y="-19050"/>
              <a:ext cx="1372563" cy="331563"/>
            </a:xfrm>
            <a:prstGeom prst="rect">
              <a:avLst/>
            </a:prstGeom>
          </p:spPr>
          <p:txBody>
            <a:bodyPr anchor="ctr" rtlCol="false" tIns="50800" lIns="50800" bIns="50800" rIns="50800"/>
            <a:lstStyle/>
            <a:p>
              <a:pPr algn="ctr">
                <a:lnSpc>
                  <a:spcPts val="2160"/>
                </a:lnSpc>
              </a:pPr>
            </a:p>
          </p:txBody>
        </p:sp>
      </p:grpSp>
      <p:grpSp>
        <p:nvGrpSpPr>
          <p:cNvPr name="Group 19" id="19"/>
          <p:cNvGrpSpPr>
            <a:grpSpLocks noChangeAspect="true"/>
          </p:cNvGrpSpPr>
          <p:nvPr/>
        </p:nvGrpSpPr>
        <p:grpSpPr>
          <a:xfrm rot="0">
            <a:off x="9022080" y="-223466"/>
            <a:ext cx="724849" cy="724849"/>
            <a:chOff x="0" y="0"/>
            <a:chExt cx="1708150" cy="1708150"/>
          </a:xfrm>
        </p:grpSpPr>
        <p:sp>
          <p:nvSpPr>
            <p:cNvPr name="Freeform 20" id="20"/>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AB440"/>
            </a:solidFill>
          </p:spPr>
        </p:sp>
      </p:grpSp>
      <p:sp>
        <p:nvSpPr>
          <p:cNvPr name="Freeform 21" id="21"/>
          <p:cNvSpPr/>
          <p:nvPr/>
        </p:nvSpPr>
        <p:spPr>
          <a:xfrm flipH="false" flipV="false" rot="0">
            <a:off x="1073275" y="6263659"/>
            <a:ext cx="484546" cy="490792"/>
          </a:xfrm>
          <a:custGeom>
            <a:avLst/>
            <a:gdLst/>
            <a:ahLst/>
            <a:cxnLst/>
            <a:rect r="r" b="b" t="t" l="l"/>
            <a:pathLst>
              <a:path h="490792" w="484546">
                <a:moveTo>
                  <a:pt x="0" y="0"/>
                </a:moveTo>
                <a:lnTo>
                  <a:pt x="484545" y="0"/>
                </a:lnTo>
                <a:lnTo>
                  <a:pt x="484545" y="490793"/>
                </a:lnTo>
                <a:lnTo>
                  <a:pt x="0" y="4907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2" id="22"/>
          <p:cNvGrpSpPr/>
          <p:nvPr/>
        </p:nvGrpSpPr>
        <p:grpSpPr>
          <a:xfrm rot="0">
            <a:off x="1170880" y="5448395"/>
            <a:ext cx="3705920" cy="843786"/>
            <a:chOff x="0" y="0"/>
            <a:chExt cx="1372563" cy="312513"/>
          </a:xfrm>
        </p:grpSpPr>
        <p:sp>
          <p:nvSpPr>
            <p:cNvPr name="Freeform 23" id="23"/>
            <p:cNvSpPr/>
            <p:nvPr/>
          </p:nvSpPr>
          <p:spPr>
            <a:xfrm flipH="false" flipV="false" rot="0">
              <a:off x="0" y="0"/>
              <a:ext cx="1372563" cy="312513"/>
            </a:xfrm>
            <a:custGeom>
              <a:avLst/>
              <a:gdLst/>
              <a:ahLst/>
              <a:cxnLst/>
              <a:rect r="r" b="b" t="t" l="l"/>
              <a:pathLst>
                <a:path h="312513" w="1372563">
                  <a:moveTo>
                    <a:pt x="75206" y="0"/>
                  </a:moveTo>
                  <a:lnTo>
                    <a:pt x="1297356" y="0"/>
                  </a:lnTo>
                  <a:cubicBezTo>
                    <a:pt x="1338892" y="0"/>
                    <a:pt x="1372563" y="33671"/>
                    <a:pt x="1372563" y="75206"/>
                  </a:cubicBezTo>
                  <a:lnTo>
                    <a:pt x="1372563" y="237307"/>
                  </a:lnTo>
                  <a:cubicBezTo>
                    <a:pt x="1372563" y="257253"/>
                    <a:pt x="1364639" y="276382"/>
                    <a:pt x="1350535" y="290486"/>
                  </a:cubicBezTo>
                  <a:cubicBezTo>
                    <a:pt x="1336432" y="304590"/>
                    <a:pt x="1317302" y="312513"/>
                    <a:pt x="1297356" y="312513"/>
                  </a:cubicBezTo>
                  <a:lnTo>
                    <a:pt x="75206" y="312513"/>
                  </a:lnTo>
                  <a:cubicBezTo>
                    <a:pt x="33671" y="312513"/>
                    <a:pt x="0" y="278842"/>
                    <a:pt x="0" y="237307"/>
                  </a:cubicBezTo>
                  <a:lnTo>
                    <a:pt x="0" y="75206"/>
                  </a:lnTo>
                  <a:cubicBezTo>
                    <a:pt x="0" y="33671"/>
                    <a:pt x="33671" y="0"/>
                    <a:pt x="75206" y="0"/>
                  </a:cubicBezTo>
                  <a:close/>
                </a:path>
              </a:pathLst>
            </a:custGeom>
            <a:solidFill>
              <a:srgbClr val="FF66C4"/>
            </a:solidFill>
          </p:spPr>
        </p:sp>
        <p:sp>
          <p:nvSpPr>
            <p:cNvPr name="TextBox 24" id="24"/>
            <p:cNvSpPr txBox="true"/>
            <p:nvPr/>
          </p:nvSpPr>
          <p:spPr>
            <a:xfrm>
              <a:off x="0" y="-19050"/>
              <a:ext cx="1372563" cy="331563"/>
            </a:xfrm>
            <a:prstGeom prst="rect">
              <a:avLst/>
            </a:prstGeom>
          </p:spPr>
          <p:txBody>
            <a:bodyPr anchor="ctr" rtlCol="false" tIns="50800" lIns="50800" bIns="50800" rIns="50800"/>
            <a:lstStyle/>
            <a:p>
              <a:pPr algn="ctr">
                <a:lnSpc>
                  <a:spcPts val="2160"/>
                </a:lnSpc>
              </a:pPr>
            </a:p>
          </p:txBody>
        </p:sp>
      </p:grpSp>
      <p:grpSp>
        <p:nvGrpSpPr>
          <p:cNvPr name="Group 25" id="25"/>
          <p:cNvGrpSpPr/>
          <p:nvPr/>
        </p:nvGrpSpPr>
        <p:grpSpPr>
          <a:xfrm rot="0">
            <a:off x="5678585" y="5448395"/>
            <a:ext cx="3705920" cy="843786"/>
            <a:chOff x="0" y="0"/>
            <a:chExt cx="1372563" cy="312513"/>
          </a:xfrm>
        </p:grpSpPr>
        <p:sp>
          <p:nvSpPr>
            <p:cNvPr name="Freeform 26" id="26"/>
            <p:cNvSpPr/>
            <p:nvPr/>
          </p:nvSpPr>
          <p:spPr>
            <a:xfrm flipH="false" flipV="false" rot="0">
              <a:off x="0" y="0"/>
              <a:ext cx="1372563" cy="312513"/>
            </a:xfrm>
            <a:custGeom>
              <a:avLst/>
              <a:gdLst/>
              <a:ahLst/>
              <a:cxnLst/>
              <a:rect r="r" b="b" t="t" l="l"/>
              <a:pathLst>
                <a:path h="312513" w="1372563">
                  <a:moveTo>
                    <a:pt x="75206" y="0"/>
                  </a:moveTo>
                  <a:lnTo>
                    <a:pt x="1297356" y="0"/>
                  </a:lnTo>
                  <a:cubicBezTo>
                    <a:pt x="1338892" y="0"/>
                    <a:pt x="1372563" y="33671"/>
                    <a:pt x="1372563" y="75206"/>
                  </a:cubicBezTo>
                  <a:lnTo>
                    <a:pt x="1372563" y="237307"/>
                  </a:lnTo>
                  <a:cubicBezTo>
                    <a:pt x="1372563" y="257253"/>
                    <a:pt x="1364639" y="276382"/>
                    <a:pt x="1350535" y="290486"/>
                  </a:cubicBezTo>
                  <a:cubicBezTo>
                    <a:pt x="1336432" y="304590"/>
                    <a:pt x="1317302" y="312513"/>
                    <a:pt x="1297356" y="312513"/>
                  </a:cubicBezTo>
                  <a:lnTo>
                    <a:pt x="75206" y="312513"/>
                  </a:lnTo>
                  <a:cubicBezTo>
                    <a:pt x="33671" y="312513"/>
                    <a:pt x="0" y="278842"/>
                    <a:pt x="0" y="237307"/>
                  </a:cubicBezTo>
                  <a:lnTo>
                    <a:pt x="0" y="75206"/>
                  </a:lnTo>
                  <a:cubicBezTo>
                    <a:pt x="0" y="33671"/>
                    <a:pt x="33671" y="0"/>
                    <a:pt x="75206" y="0"/>
                  </a:cubicBezTo>
                  <a:close/>
                </a:path>
              </a:pathLst>
            </a:custGeom>
            <a:solidFill>
              <a:srgbClr val="FABA43"/>
            </a:solidFill>
          </p:spPr>
        </p:sp>
        <p:sp>
          <p:nvSpPr>
            <p:cNvPr name="TextBox 27" id="27"/>
            <p:cNvSpPr txBox="true"/>
            <p:nvPr/>
          </p:nvSpPr>
          <p:spPr>
            <a:xfrm>
              <a:off x="0" y="-19050"/>
              <a:ext cx="1372563" cy="331563"/>
            </a:xfrm>
            <a:prstGeom prst="rect">
              <a:avLst/>
            </a:prstGeom>
          </p:spPr>
          <p:txBody>
            <a:bodyPr anchor="ctr" rtlCol="false" tIns="50800" lIns="50800" bIns="50800" rIns="50800"/>
            <a:lstStyle/>
            <a:p>
              <a:pPr algn="ctr">
                <a:lnSpc>
                  <a:spcPts val="2160"/>
                </a:lnSpc>
              </a:pPr>
            </a:p>
          </p:txBody>
        </p:sp>
      </p:grpSp>
      <p:sp>
        <p:nvSpPr>
          <p:cNvPr name="Freeform 28" id="28"/>
          <p:cNvSpPr/>
          <p:nvPr/>
        </p:nvSpPr>
        <p:spPr>
          <a:xfrm flipH="false" flipV="false" rot="0">
            <a:off x="602594" y="5180423"/>
            <a:ext cx="1529361" cy="1328632"/>
          </a:xfrm>
          <a:custGeom>
            <a:avLst/>
            <a:gdLst/>
            <a:ahLst/>
            <a:cxnLst/>
            <a:rect r="r" b="b" t="t" l="l"/>
            <a:pathLst>
              <a:path h="1328632" w="1529361">
                <a:moveTo>
                  <a:pt x="0" y="0"/>
                </a:moveTo>
                <a:lnTo>
                  <a:pt x="1529361" y="0"/>
                </a:lnTo>
                <a:lnTo>
                  <a:pt x="1529361" y="1328632"/>
                </a:lnTo>
                <a:lnTo>
                  <a:pt x="0" y="132863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9" id="29"/>
          <p:cNvSpPr/>
          <p:nvPr/>
        </p:nvSpPr>
        <p:spPr>
          <a:xfrm flipH="false" flipV="false" rot="0">
            <a:off x="5359142" y="4998553"/>
            <a:ext cx="904413" cy="1510503"/>
          </a:xfrm>
          <a:custGeom>
            <a:avLst/>
            <a:gdLst/>
            <a:ahLst/>
            <a:cxnLst/>
            <a:rect r="r" b="b" t="t" l="l"/>
            <a:pathLst>
              <a:path h="1510503" w="904413">
                <a:moveTo>
                  <a:pt x="0" y="0"/>
                </a:moveTo>
                <a:lnTo>
                  <a:pt x="904413" y="0"/>
                </a:lnTo>
                <a:lnTo>
                  <a:pt x="904413" y="1510502"/>
                </a:lnTo>
                <a:lnTo>
                  <a:pt x="0" y="151050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0" id="30"/>
          <p:cNvSpPr/>
          <p:nvPr/>
        </p:nvSpPr>
        <p:spPr>
          <a:xfrm flipH="false" flipV="false" rot="0">
            <a:off x="5303694" y="1388033"/>
            <a:ext cx="1391630" cy="1255946"/>
          </a:xfrm>
          <a:custGeom>
            <a:avLst/>
            <a:gdLst/>
            <a:ahLst/>
            <a:cxnLst/>
            <a:rect r="r" b="b" t="t" l="l"/>
            <a:pathLst>
              <a:path h="1255946" w="1391630">
                <a:moveTo>
                  <a:pt x="0" y="0"/>
                </a:moveTo>
                <a:lnTo>
                  <a:pt x="1391630" y="0"/>
                </a:lnTo>
                <a:lnTo>
                  <a:pt x="1391630" y="1255946"/>
                </a:lnTo>
                <a:lnTo>
                  <a:pt x="0" y="125594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1" id="31"/>
          <p:cNvSpPr/>
          <p:nvPr/>
        </p:nvSpPr>
        <p:spPr>
          <a:xfrm flipH="false" flipV="false" rot="0">
            <a:off x="5088001" y="3355480"/>
            <a:ext cx="1607323" cy="1056815"/>
          </a:xfrm>
          <a:custGeom>
            <a:avLst/>
            <a:gdLst/>
            <a:ahLst/>
            <a:cxnLst/>
            <a:rect r="r" b="b" t="t" l="l"/>
            <a:pathLst>
              <a:path h="1056815" w="1607323">
                <a:moveTo>
                  <a:pt x="0" y="0"/>
                </a:moveTo>
                <a:lnTo>
                  <a:pt x="1607323" y="0"/>
                </a:lnTo>
                <a:lnTo>
                  <a:pt x="1607323" y="1056815"/>
                </a:lnTo>
                <a:lnTo>
                  <a:pt x="0" y="105681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2" id="32"/>
          <p:cNvSpPr/>
          <p:nvPr/>
        </p:nvSpPr>
        <p:spPr>
          <a:xfrm flipH="false" flipV="false" rot="0">
            <a:off x="8890498" y="6754452"/>
            <a:ext cx="988013" cy="1148852"/>
          </a:xfrm>
          <a:custGeom>
            <a:avLst/>
            <a:gdLst/>
            <a:ahLst/>
            <a:cxnLst/>
            <a:rect r="r" b="b" t="t" l="l"/>
            <a:pathLst>
              <a:path h="1148852" w="988013">
                <a:moveTo>
                  <a:pt x="0" y="0"/>
                </a:moveTo>
                <a:lnTo>
                  <a:pt x="988013" y="0"/>
                </a:lnTo>
                <a:lnTo>
                  <a:pt x="988013" y="1148852"/>
                </a:lnTo>
                <a:lnTo>
                  <a:pt x="0" y="11488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33" id="33"/>
          <p:cNvSpPr txBox="true"/>
          <p:nvPr/>
        </p:nvSpPr>
        <p:spPr>
          <a:xfrm rot="0">
            <a:off x="1175107" y="509347"/>
            <a:ext cx="7585546" cy="545311"/>
          </a:xfrm>
          <a:prstGeom prst="rect">
            <a:avLst/>
          </a:prstGeom>
        </p:spPr>
        <p:txBody>
          <a:bodyPr anchor="t" rtlCol="false" tIns="0" lIns="0" bIns="0" rIns="0">
            <a:spAutoFit/>
          </a:bodyPr>
          <a:lstStyle/>
          <a:p>
            <a:pPr algn="ctr">
              <a:lnSpc>
                <a:spcPts val="4056"/>
              </a:lnSpc>
              <a:spcBef>
                <a:spcPct val="0"/>
              </a:spcBef>
            </a:pPr>
            <a:r>
              <a:rPr lang="en-US" b="true" sz="3380">
                <a:solidFill>
                  <a:srgbClr val="444CA8"/>
                </a:solidFill>
                <a:latin typeface="Poppins Bold"/>
                <a:ea typeface="Poppins Bold"/>
                <a:cs typeface="Poppins Bold"/>
                <a:sym typeface="Poppins Bold"/>
              </a:rPr>
              <a:t>Проблеми, якi вирiшує FinTracker</a:t>
            </a:r>
          </a:p>
        </p:txBody>
      </p:sp>
      <p:sp>
        <p:nvSpPr>
          <p:cNvPr name="TextBox 34" id="34"/>
          <p:cNvSpPr txBox="true"/>
          <p:nvPr/>
        </p:nvSpPr>
        <p:spPr>
          <a:xfrm rot="0">
            <a:off x="2131955" y="1840481"/>
            <a:ext cx="2656863" cy="609600"/>
          </a:xfrm>
          <a:prstGeom prst="rect">
            <a:avLst/>
          </a:prstGeom>
        </p:spPr>
        <p:txBody>
          <a:bodyPr anchor="t" rtlCol="false" tIns="0" lIns="0" bIns="0" rIns="0">
            <a:spAutoFit/>
          </a:bodyPr>
          <a:lstStyle/>
          <a:p>
            <a:pPr algn="ctr">
              <a:lnSpc>
                <a:spcPts val="2399"/>
              </a:lnSpc>
            </a:pPr>
            <a:r>
              <a:rPr lang="en-US" sz="1999" i="true">
                <a:solidFill>
                  <a:srgbClr val="FFFFFF"/>
                </a:solidFill>
                <a:latin typeface="Poppins Italics"/>
                <a:ea typeface="Poppins Italics"/>
                <a:cs typeface="Poppins Italics"/>
                <a:sym typeface="Poppins Italics"/>
              </a:rPr>
              <a:t>Відсутність контролю витрат</a:t>
            </a:r>
          </a:p>
        </p:txBody>
      </p:sp>
      <p:sp>
        <p:nvSpPr>
          <p:cNvPr name="TextBox 35" id="35"/>
          <p:cNvSpPr txBox="true"/>
          <p:nvPr/>
        </p:nvSpPr>
        <p:spPr>
          <a:xfrm rot="0">
            <a:off x="6947897" y="1840481"/>
            <a:ext cx="1990596" cy="609600"/>
          </a:xfrm>
          <a:prstGeom prst="rect">
            <a:avLst/>
          </a:prstGeom>
        </p:spPr>
        <p:txBody>
          <a:bodyPr anchor="t" rtlCol="false" tIns="0" lIns="0" bIns="0" rIns="0">
            <a:spAutoFit/>
          </a:bodyPr>
          <a:lstStyle/>
          <a:p>
            <a:pPr algn="ctr">
              <a:lnSpc>
                <a:spcPts val="2399"/>
              </a:lnSpc>
            </a:pPr>
            <a:r>
              <a:rPr lang="en-US" sz="1999" i="true">
                <a:solidFill>
                  <a:srgbClr val="BE5400"/>
                </a:solidFill>
                <a:latin typeface="Poppins Italics"/>
                <a:ea typeface="Poppins Italics"/>
                <a:cs typeface="Poppins Italics"/>
                <a:sym typeface="Poppins Italics"/>
              </a:rPr>
              <a:t>Перевищення бюджету</a:t>
            </a:r>
          </a:p>
        </p:txBody>
      </p:sp>
      <p:sp>
        <p:nvSpPr>
          <p:cNvPr name="TextBox 36" id="36"/>
          <p:cNvSpPr txBox="true"/>
          <p:nvPr/>
        </p:nvSpPr>
        <p:spPr>
          <a:xfrm rot="0">
            <a:off x="1653034" y="3689453"/>
            <a:ext cx="3223766" cy="609600"/>
          </a:xfrm>
          <a:prstGeom prst="rect">
            <a:avLst/>
          </a:prstGeom>
        </p:spPr>
        <p:txBody>
          <a:bodyPr anchor="t" rtlCol="false" tIns="0" lIns="0" bIns="0" rIns="0">
            <a:spAutoFit/>
          </a:bodyPr>
          <a:lstStyle/>
          <a:p>
            <a:pPr algn="ctr">
              <a:lnSpc>
                <a:spcPts val="2399"/>
              </a:lnSpc>
            </a:pPr>
            <a:r>
              <a:rPr lang="en-US" sz="1999" i="true">
                <a:solidFill>
                  <a:srgbClr val="BE5400"/>
                </a:solidFill>
                <a:latin typeface="Poppins Italics"/>
                <a:ea typeface="Poppins Italics"/>
                <a:cs typeface="Poppins Italics"/>
                <a:sym typeface="Poppins Italics"/>
              </a:rPr>
              <a:t>Складність в</a:t>
            </a:r>
            <a:r>
              <a:rPr lang="en-US" sz="1999" i="true">
                <a:solidFill>
                  <a:srgbClr val="BE5400"/>
                </a:solidFill>
                <a:latin typeface="Poppins Italics"/>
                <a:ea typeface="Poppins Italics"/>
                <a:cs typeface="Poppins Italics"/>
                <a:sym typeface="Poppins Italics"/>
              </a:rPr>
              <a:t>едення спільного бюджету</a:t>
            </a:r>
          </a:p>
        </p:txBody>
      </p:sp>
      <p:sp>
        <p:nvSpPr>
          <p:cNvPr name="TextBox 37" id="37"/>
          <p:cNvSpPr txBox="true"/>
          <p:nvPr/>
        </p:nvSpPr>
        <p:spPr>
          <a:xfrm rot="0">
            <a:off x="6254030" y="5546438"/>
            <a:ext cx="2905998" cy="609600"/>
          </a:xfrm>
          <a:prstGeom prst="rect">
            <a:avLst/>
          </a:prstGeom>
        </p:spPr>
        <p:txBody>
          <a:bodyPr anchor="t" rtlCol="false" tIns="0" lIns="0" bIns="0" rIns="0">
            <a:spAutoFit/>
          </a:bodyPr>
          <a:lstStyle/>
          <a:p>
            <a:pPr algn="ctr">
              <a:lnSpc>
                <a:spcPts val="2399"/>
              </a:lnSpc>
            </a:pPr>
            <a:r>
              <a:rPr lang="en-US" sz="1999" i="true">
                <a:solidFill>
                  <a:srgbClr val="BE5400"/>
                </a:solidFill>
                <a:latin typeface="Poppins Italics"/>
                <a:ea typeface="Poppins Italics"/>
                <a:cs typeface="Poppins Italics"/>
                <a:sym typeface="Poppins Italics"/>
              </a:rPr>
              <a:t>Н</a:t>
            </a:r>
            <a:r>
              <a:rPr lang="en-US" sz="1999" i="true">
                <a:solidFill>
                  <a:srgbClr val="BE5400"/>
                </a:solidFill>
                <a:latin typeface="Poppins Italics"/>
                <a:ea typeface="Poppins Italics"/>
                <a:cs typeface="Poppins Italics"/>
                <a:sym typeface="Poppins Italics"/>
              </a:rPr>
              <a:t>епрозора фінансова аналітика</a:t>
            </a:r>
          </a:p>
        </p:txBody>
      </p:sp>
      <p:sp>
        <p:nvSpPr>
          <p:cNvPr name="TextBox 38" id="38"/>
          <p:cNvSpPr txBox="true"/>
          <p:nvPr/>
        </p:nvSpPr>
        <p:spPr>
          <a:xfrm rot="0">
            <a:off x="6614764" y="3676077"/>
            <a:ext cx="2656863" cy="609600"/>
          </a:xfrm>
          <a:prstGeom prst="rect">
            <a:avLst/>
          </a:prstGeom>
        </p:spPr>
        <p:txBody>
          <a:bodyPr anchor="t" rtlCol="false" tIns="0" lIns="0" bIns="0" rIns="0">
            <a:spAutoFit/>
          </a:bodyPr>
          <a:lstStyle/>
          <a:p>
            <a:pPr algn="ctr">
              <a:lnSpc>
                <a:spcPts val="2399"/>
              </a:lnSpc>
            </a:pPr>
            <a:r>
              <a:rPr lang="en-US" sz="1999" i="true">
                <a:solidFill>
                  <a:srgbClr val="FFFFFF"/>
                </a:solidFill>
                <a:latin typeface="Poppins Italics"/>
                <a:ea typeface="Poppins Italics"/>
                <a:cs typeface="Poppins Italics"/>
                <a:sym typeface="Poppins Italics"/>
              </a:rPr>
              <a:t>Немає ф</a:t>
            </a:r>
            <a:r>
              <a:rPr lang="en-US" sz="1999" i="true">
                <a:solidFill>
                  <a:srgbClr val="FFFFFF"/>
                </a:solidFill>
                <a:latin typeface="Poppins Italics"/>
                <a:ea typeface="Poppins Italics"/>
                <a:cs typeface="Poppins Italics"/>
                <a:sym typeface="Poppins Italics"/>
              </a:rPr>
              <a:t>інансової дисципліни</a:t>
            </a:r>
          </a:p>
        </p:txBody>
      </p:sp>
      <p:sp>
        <p:nvSpPr>
          <p:cNvPr name="TextBox 39" id="39"/>
          <p:cNvSpPr txBox="true"/>
          <p:nvPr/>
        </p:nvSpPr>
        <p:spPr>
          <a:xfrm rot="0">
            <a:off x="2131955" y="5555963"/>
            <a:ext cx="2656863" cy="609600"/>
          </a:xfrm>
          <a:prstGeom prst="rect">
            <a:avLst/>
          </a:prstGeom>
        </p:spPr>
        <p:txBody>
          <a:bodyPr anchor="t" rtlCol="false" tIns="0" lIns="0" bIns="0" rIns="0">
            <a:spAutoFit/>
          </a:bodyPr>
          <a:lstStyle/>
          <a:p>
            <a:pPr algn="ctr">
              <a:lnSpc>
                <a:spcPts val="2399"/>
              </a:lnSpc>
            </a:pPr>
            <a:r>
              <a:rPr lang="en-US" sz="1999" i="true">
                <a:solidFill>
                  <a:srgbClr val="FFFFFF"/>
                </a:solidFill>
                <a:latin typeface="Poppins Italics"/>
                <a:ea typeface="Poppins Italics"/>
                <a:cs typeface="Poppins Italics"/>
                <a:sym typeface="Poppins Italics"/>
              </a:rPr>
              <a:t>В</a:t>
            </a:r>
            <a:r>
              <a:rPr lang="en-US" sz="1999" i="true">
                <a:solidFill>
                  <a:srgbClr val="FFFFFF"/>
                </a:solidFill>
                <a:latin typeface="Poppins Italics"/>
                <a:ea typeface="Poppins Italics"/>
                <a:cs typeface="Poppins Italics"/>
                <a:sym typeface="Poppins Italics"/>
              </a:rPr>
              <a:t>ідсутність автоматизації</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527783" y="1178712"/>
            <a:ext cx="2920965" cy="5928139"/>
            <a:chOff x="0" y="0"/>
            <a:chExt cx="1081839" cy="2195607"/>
          </a:xfrm>
        </p:grpSpPr>
        <p:sp>
          <p:nvSpPr>
            <p:cNvPr name="Freeform 4" id="4"/>
            <p:cNvSpPr/>
            <p:nvPr/>
          </p:nvSpPr>
          <p:spPr>
            <a:xfrm flipH="false" flipV="false" rot="0">
              <a:off x="0" y="0"/>
              <a:ext cx="1081839" cy="2195607"/>
            </a:xfrm>
            <a:custGeom>
              <a:avLst/>
              <a:gdLst/>
              <a:ahLst/>
              <a:cxnLst/>
              <a:rect r="r" b="b" t="t" l="l"/>
              <a:pathLst>
                <a:path h="2195607" w="1081839">
                  <a:moveTo>
                    <a:pt x="95417" y="0"/>
                  </a:moveTo>
                  <a:lnTo>
                    <a:pt x="986422" y="0"/>
                  </a:lnTo>
                  <a:cubicBezTo>
                    <a:pt x="1039119" y="0"/>
                    <a:pt x="1081839" y="42720"/>
                    <a:pt x="1081839" y="95417"/>
                  </a:cubicBezTo>
                  <a:lnTo>
                    <a:pt x="1081839" y="2100190"/>
                  </a:lnTo>
                  <a:cubicBezTo>
                    <a:pt x="1081839" y="2152887"/>
                    <a:pt x="1039119" y="2195607"/>
                    <a:pt x="986422" y="2195607"/>
                  </a:cubicBezTo>
                  <a:lnTo>
                    <a:pt x="95417" y="2195607"/>
                  </a:lnTo>
                  <a:cubicBezTo>
                    <a:pt x="42720" y="2195607"/>
                    <a:pt x="0" y="2152887"/>
                    <a:pt x="0" y="2100190"/>
                  </a:cubicBezTo>
                  <a:lnTo>
                    <a:pt x="0" y="95417"/>
                  </a:lnTo>
                  <a:cubicBezTo>
                    <a:pt x="0" y="42720"/>
                    <a:pt x="42720" y="0"/>
                    <a:pt x="95417" y="0"/>
                  </a:cubicBezTo>
                  <a:close/>
                </a:path>
              </a:pathLst>
            </a:custGeom>
            <a:solidFill>
              <a:srgbClr val="FAB440"/>
            </a:solidFill>
          </p:spPr>
        </p:sp>
        <p:sp>
          <p:nvSpPr>
            <p:cNvPr name="TextBox 5" id="5"/>
            <p:cNvSpPr txBox="true"/>
            <p:nvPr/>
          </p:nvSpPr>
          <p:spPr>
            <a:xfrm>
              <a:off x="0" y="-19050"/>
              <a:ext cx="1081839" cy="2214657"/>
            </a:xfrm>
            <a:prstGeom prst="rect">
              <a:avLst/>
            </a:prstGeom>
          </p:spPr>
          <p:txBody>
            <a:bodyPr anchor="ctr" rtlCol="false" tIns="50800" lIns="50800" bIns="50800" rIns="50800"/>
            <a:lstStyle/>
            <a:p>
              <a:pPr algn="ctr">
                <a:lnSpc>
                  <a:spcPts val="2160"/>
                </a:lnSpc>
              </a:pPr>
            </a:p>
          </p:txBody>
        </p:sp>
      </p:grpSp>
      <p:sp>
        <p:nvSpPr>
          <p:cNvPr name="Freeform 6" id="6"/>
          <p:cNvSpPr/>
          <p:nvPr/>
        </p:nvSpPr>
        <p:spPr>
          <a:xfrm flipH="false" flipV="false" rot="0">
            <a:off x="6984983" y="4989625"/>
            <a:ext cx="2287563" cy="1958726"/>
          </a:xfrm>
          <a:custGeom>
            <a:avLst/>
            <a:gdLst/>
            <a:ahLst/>
            <a:cxnLst/>
            <a:rect r="r" b="b" t="t" l="l"/>
            <a:pathLst>
              <a:path h="1958726" w="2287563">
                <a:moveTo>
                  <a:pt x="0" y="0"/>
                </a:moveTo>
                <a:lnTo>
                  <a:pt x="2287563" y="0"/>
                </a:lnTo>
                <a:lnTo>
                  <a:pt x="2287563" y="1958726"/>
                </a:lnTo>
                <a:lnTo>
                  <a:pt x="0" y="1958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416317" y="1178712"/>
            <a:ext cx="2920965" cy="5928139"/>
            <a:chOff x="0" y="0"/>
            <a:chExt cx="1081839" cy="2195607"/>
          </a:xfrm>
        </p:grpSpPr>
        <p:sp>
          <p:nvSpPr>
            <p:cNvPr name="Freeform 8" id="8"/>
            <p:cNvSpPr/>
            <p:nvPr/>
          </p:nvSpPr>
          <p:spPr>
            <a:xfrm flipH="false" flipV="false" rot="0">
              <a:off x="0" y="0"/>
              <a:ext cx="1081839" cy="2195607"/>
            </a:xfrm>
            <a:custGeom>
              <a:avLst/>
              <a:gdLst/>
              <a:ahLst/>
              <a:cxnLst/>
              <a:rect r="r" b="b" t="t" l="l"/>
              <a:pathLst>
                <a:path h="2195607" w="1081839">
                  <a:moveTo>
                    <a:pt x="95417" y="0"/>
                  </a:moveTo>
                  <a:lnTo>
                    <a:pt x="986422" y="0"/>
                  </a:lnTo>
                  <a:cubicBezTo>
                    <a:pt x="1039119" y="0"/>
                    <a:pt x="1081839" y="42720"/>
                    <a:pt x="1081839" y="95417"/>
                  </a:cubicBezTo>
                  <a:lnTo>
                    <a:pt x="1081839" y="2100190"/>
                  </a:lnTo>
                  <a:cubicBezTo>
                    <a:pt x="1081839" y="2152887"/>
                    <a:pt x="1039119" y="2195607"/>
                    <a:pt x="986422" y="2195607"/>
                  </a:cubicBezTo>
                  <a:lnTo>
                    <a:pt x="95417" y="2195607"/>
                  </a:lnTo>
                  <a:cubicBezTo>
                    <a:pt x="42720" y="2195607"/>
                    <a:pt x="0" y="2152887"/>
                    <a:pt x="0" y="2100190"/>
                  </a:cubicBezTo>
                  <a:lnTo>
                    <a:pt x="0" y="95417"/>
                  </a:lnTo>
                  <a:cubicBezTo>
                    <a:pt x="0" y="42720"/>
                    <a:pt x="42720" y="0"/>
                    <a:pt x="95417" y="0"/>
                  </a:cubicBezTo>
                  <a:close/>
                </a:path>
              </a:pathLst>
            </a:custGeom>
            <a:solidFill>
              <a:srgbClr val="F47031"/>
            </a:solidFill>
          </p:spPr>
        </p:sp>
        <p:sp>
          <p:nvSpPr>
            <p:cNvPr name="TextBox 9" id="9"/>
            <p:cNvSpPr txBox="true"/>
            <p:nvPr/>
          </p:nvSpPr>
          <p:spPr>
            <a:xfrm>
              <a:off x="0" y="-19050"/>
              <a:ext cx="1081839" cy="2214657"/>
            </a:xfrm>
            <a:prstGeom prst="rect">
              <a:avLst/>
            </a:prstGeom>
          </p:spPr>
          <p:txBody>
            <a:bodyPr anchor="ctr" rtlCol="false" tIns="50800" lIns="50800" bIns="50800" rIns="50800"/>
            <a:lstStyle/>
            <a:p>
              <a:pPr algn="ctr">
                <a:lnSpc>
                  <a:spcPts val="2160"/>
                </a:lnSpc>
              </a:pPr>
            </a:p>
          </p:txBody>
        </p:sp>
      </p:grpSp>
      <p:sp>
        <p:nvSpPr>
          <p:cNvPr name="Freeform 10" id="10"/>
          <p:cNvSpPr/>
          <p:nvPr/>
        </p:nvSpPr>
        <p:spPr>
          <a:xfrm flipH="false" flipV="false" rot="0">
            <a:off x="3635866" y="4974924"/>
            <a:ext cx="1815553" cy="1973427"/>
          </a:xfrm>
          <a:custGeom>
            <a:avLst/>
            <a:gdLst/>
            <a:ahLst/>
            <a:cxnLst/>
            <a:rect r="r" b="b" t="t" l="l"/>
            <a:pathLst>
              <a:path h="1973427" w="1815553">
                <a:moveTo>
                  <a:pt x="0" y="0"/>
                </a:moveTo>
                <a:lnTo>
                  <a:pt x="1815553" y="0"/>
                </a:lnTo>
                <a:lnTo>
                  <a:pt x="1815553" y="1973427"/>
                </a:lnTo>
                <a:lnTo>
                  <a:pt x="0" y="1973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306604" y="1178712"/>
            <a:ext cx="2920965" cy="5928139"/>
            <a:chOff x="0" y="0"/>
            <a:chExt cx="1081839" cy="2195607"/>
          </a:xfrm>
        </p:grpSpPr>
        <p:sp>
          <p:nvSpPr>
            <p:cNvPr name="Freeform 12" id="12"/>
            <p:cNvSpPr/>
            <p:nvPr/>
          </p:nvSpPr>
          <p:spPr>
            <a:xfrm flipH="false" flipV="false" rot="0">
              <a:off x="0" y="0"/>
              <a:ext cx="1081839" cy="2195607"/>
            </a:xfrm>
            <a:custGeom>
              <a:avLst/>
              <a:gdLst/>
              <a:ahLst/>
              <a:cxnLst/>
              <a:rect r="r" b="b" t="t" l="l"/>
              <a:pathLst>
                <a:path h="2195607" w="1081839">
                  <a:moveTo>
                    <a:pt x="95417" y="0"/>
                  </a:moveTo>
                  <a:lnTo>
                    <a:pt x="986422" y="0"/>
                  </a:lnTo>
                  <a:cubicBezTo>
                    <a:pt x="1039119" y="0"/>
                    <a:pt x="1081839" y="42720"/>
                    <a:pt x="1081839" y="95417"/>
                  </a:cubicBezTo>
                  <a:lnTo>
                    <a:pt x="1081839" y="2100190"/>
                  </a:lnTo>
                  <a:cubicBezTo>
                    <a:pt x="1081839" y="2152887"/>
                    <a:pt x="1039119" y="2195607"/>
                    <a:pt x="986422" y="2195607"/>
                  </a:cubicBezTo>
                  <a:lnTo>
                    <a:pt x="95417" y="2195607"/>
                  </a:lnTo>
                  <a:cubicBezTo>
                    <a:pt x="42720" y="2195607"/>
                    <a:pt x="0" y="2152887"/>
                    <a:pt x="0" y="2100190"/>
                  </a:cubicBezTo>
                  <a:lnTo>
                    <a:pt x="0" y="95417"/>
                  </a:lnTo>
                  <a:cubicBezTo>
                    <a:pt x="0" y="42720"/>
                    <a:pt x="42720" y="0"/>
                    <a:pt x="95417" y="0"/>
                  </a:cubicBezTo>
                  <a:close/>
                </a:path>
              </a:pathLst>
            </a:custGeom>
            <a:solidFill>
              <a:srgbClr val="6063B8"/>
            </a:solidFill>
          </p:spPr>
        </p:sp>
        <p:sp>
          <p:nvSpPr>
            <p:cNvPr name="TextBox 13" id="13"/>
            <p:cNvSpPr txBox="true"/>
            <p:nvPr/>
          </p:nvSpPr>
          <p:spPr>
            <a:xfrm>
              <a:off x="0" y="-19050"/>
              <a:ext cx="1081839" cy="2214657"/>
            </a:xfrm>
            <a:prstGeom prst="rect">
              <a:avLst/>
            </a:prstGeom>
          </p:spPr>
          <p:txBody>
            <a:bodyPr anchor="ctr" rtlCol="false" tIns="50800" lIns="50800" bIns="50800" rIns="50800"/>
            <a:lstStyle/>
            <a:p>
              <a:pPr algn="ctr">
                <a:lnSpc>
                  <a:spcPts val="2160"/>
                </a:lnSpc>
              </a:pPr>
            </a:p>
          </p:txBody>
        </p:sp>
      </p:grpSp>
      <p:sp>
        <p:nvSpPr>
          <p:cNvPr name="Freeform 14" id="14"/>
          <p:cNvSpPr/>
          <p:nvPr/>
        </p:nvSpPr>
        <p:spPr>
          <a:xfrm flipH="false" flipV="false" rot="0">
            <a:off x="1620257" y="5090041"/>
            <a:ext cx="1415060" cy="1877360"/>
          </a:xfrm>
          <a:custGeom>
            <a:avLst/>
            <a:gdLst/>
            <a:ahLst/>
            <a:cxnLst/>
            <a:rect r="r" b="b" t="t" l="l"/>
            <a:pathLst>
              <a:path h="1877360" w="1415060">
                <a:moveTo>
                  <a:pt x="0" y="0"/>
                </a:moveTo>
                <a:lnTo>
                  <a:pt x="1415060" y="0"/>
                </a:lnTo>
                <a:lnTo>
                  <a:pt x="1415060" y="1877360"/>
                </a:lnTo>
                <a:lnTo>
                  <a:pt x="0" y="18773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306604" y="1451545"/>
            <a:ext cx="2920965" cy="628650"/>
          </a:xfrm>
          <a:prstGeom prst="rect">
            <a:avLst/>
          </a:prstGeom>
        </p:spPr>
        <p:txBody>
          <a:bodyPr anchor="t" rtlCol="false" tIns="0" lIns="0" bIns="0" rIns="0">
            <a:spAutoFit/>
          </a:bodyPr>
          <a:lstStyle/>
          <a:p>
            <a:pPr algn="ctr">
              <a:lnSpc>
                <a:spcPts val="2433"/>
              </a:lnSpc>
            </a:pPr>
            <a:r>
              <a:rPr lang="en-US" b="true" sz="2027" i="true">
                <a:solidFill>
                  <a:srgbClr val="FFFFFF"/>
                </a:solidFill>
                <a:latin typeface="Poppins Bold Italics"/>
                <a:ea typeface="Poppins Bold Italics"/>
                <a:cs typeface="Poppins Bold Italics"/>
                <a:sym typeface="Poppins Bold Italics"/>
              </a:rPr>
              <a:t>Індивiдуальний </a:t>
            </a:r>
          </a:p>
          <a:p>
            <a:pPr algn="ctr">
              <a:lnSpc>
                <a:spcPts val="2433"/>
              </a:lnSpc>
            </a:pPr>
            <a:r>
              <a:rPr lang="en-US" b="true" sz="2027" i="true">
                <a:solidFill>
                  <a:srgbClr val="FFFFFF"/>
                </a:solidFill>
                <a:latin typeface="Poppins Bold Italics"/>
                <a:ea typeface="Poppins Bold Italics"/>
                <a:cs typeface="Poppins Bold Italics"/>
                <a:sym typeface="Poppins Bold Italics"/>
              </a:rPr>
              <a:t>користувач</a:t>
            </a:r>
          </a:p>
        </p:txBody>
      </p:sp>
      <p:sp>
        <p:nvSpPr>
          <p:cNvPr name="TextBox 16" id="16"/>
          <p:cNvSpPr txBox="true"/>
          <p:nvPr/>
        </p:nvSpPr>
        <p:spPr>
          <a:xfrm rot="0">
            <a:off x="3417194" y="1451545"/>
            <a:ext cx="2920965" cy="628650"/>
          </a:xfrm>
          <a:prstGeom prst="rect">
            <a:avLst/>
          </a:prstGeom>
        </p:spPr>
        <p:txBody>
          <a:bodyPr anchor="t" rtlCol="false" tIns="0" lIns="0" bIns="0" rIns="0">
            <a:spAutoFit/>
          </a:bodyPr>
          <a:lstStyle/>
          <a:p>
            <a:pPr algn="ctr">
              <a:lnSpc>
                <a:spcPts val="2433"/>
              </a:lnSpc>
            </a:pPr>
            <a:r>
              <a:rPr lang="en-US" b="true" sz="2027" i="true">
                <a:solidFill>
                  <a:srgbClr val="FFFFFF"/>
                </a:solidFill>
                <a:latin typeface="Poppins Bold Italics"/>
                <a:ea typeface="Poppins Bold Italics"/>
                <a:cs typeface="Poppins Bold Italics"/>
                <a:sym typeface="Poppins Bold Italics"/>
              </a:rPr>
              <a:t>Адмiнiстратор спiльного рахунку</a:t>
            </a:r>
          </a:p>
        </p:txBody>
      </p:sp>
      <p:sp>
        <p:nvSpPr>
          <p:cNvPr name="TextBox 17" id="17"/>
          <p:cNvSpPr txBox="true"/>
          <p:nvPr/>
        </p:nvSpPr>
        <p:spPr>
          <a:xfrm rot="0">
            <a:off x="6528659" y="1451545"/>
            <a:ext cx="2920965" cy="628650"/>
          </a:xfrm>
          <a:prstGeom prst="rect">
            <a:avLst/>
          </a:prstGeom>
        </p:spPr>
        <p:txBody>
          <a:bodyPr anchor="t" rtlCol="false" tIns="0" lIns="0" bIns="0" rIns="0">
            <a:spAutoFit/>
          </a:bodyPr>
          <a:lstStyle/>
          <a:p>
            <a:pPr algn="ctr">
              <a:lnSpc>
                <a:spcPts val="2433"/>
              </a:lnSpc>
            </a:pPr>
            <a:r>
              <a:rPr lang="en-US" b="true" sz="2027" i="true">
                <a:solidFill>
                  <a:srgbClr val="FFFFFF"/>
                </a:solidFill>
                <a:latin typeface="Poppins Bold Italics"/>
                <a:ea typeface="Poppins Bold Italics"/>
                <a:cs typeface="Poppins Bold Italics"/>
                <a:sym typeface="Poppins Bold Italics"/>
              </a:rPr>
              <a:t>Учасник спiльного рахунку</a:t>
            </a:r>
          </a:p>
        </p:txBody>
      </p:sp>
      <p:sp>
        <p:nvSpPr>
          <p:cNvPr name="TextBox 18" id="18"/>
          <p:cNvSpPr txBox="true"/>
          <p:nvPr/>
        </p:nvSpPr>
        <p:spPr>
          <a:xfrm rot="0">
            <a:off x="391031" y="2381058"/>
            <a:ext cx="2596662" cy="2760391"/>
          </a:xfrm>
          <a:prstGeom prst="rect">
            <a:avLst/>
          </a:prstGeom>
        </p:spPr>
        <p:txBody>
          <a:bodyPr anchor="t" rtlCol="false" tIns="0" lIns="0" bIns="0" rIns="0">
            <a:spAutoFit/>
          </a:bodyPr>
          <a:lstStyle/>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Веде особистий бюджет</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Встановлює ліміти для категорій витрат</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Аналізує свої фінансові звички</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Оцінює покупки у “годинах роботи”</a:t>
            </a:r>
          </a:p>
          <a:p>
            <a:pPr algn="l">
              <a:lnSpc>
                <a:spcPts val="2228"/>
              </a:lnSpc>
            </a:pPr>
          </a:p>
        </p:txBody>
      </p:sp>
      <p:sp>
        <p:nvSpPr>
          <p:cNvPr name="TextBox 19" id="19"/>
          <p:cNvSpPr txBox="true"/>
          <p:nvPr/>
        </p:nvSpPr>
        <p:spPr>
          <a:xfrm rot="0">
            <a:off x="3533792" y="2197487"/>
            <a:ext cx="2636762" cy="3034525"/>
          </a:xfrm>
          <a:prstGeom prst="rect">
            <a:avLst/>
          </a:prstGeom>
        </p:spPr>
        <p:txBody>
          <a:bodyPr anchor="t" rtlCol="false" tIns="0" lIns="0" bIns="0" rIns="0">
            <a:spAutoFit/>
          </a:bodyPr>
          <a:lstStyle/>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До</a:t>
            </a:r>
            <a:r>
              <a:rPr lang="en-US" sz="1856" i="true">
                <a:solidFill>
                  <a:srgbClr val="FFFFFF"/>
                </a:solidFill>
                <a:latin typeface="Poppins Italics"/>
                <a:ea typeface="Poppins Italics"/>
                <a:cs typeface="Poppins Italics"/>
                <a:sym typeface="Poppins Italics"/>
              </a:rPr>
              <a:t>дає учасників</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Встановлює персональні або загальні ліміти</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Отримує сповіщення про перевищення бюджету</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Ко</a:t>
            </a:r>
            <a:r>
              <a:rPr lang="en-US" sz="1856" i="true">
                <a:solidFill>
                  <a:srgbClr val="FFFFFF"/>
                </a:solidFill>
                <a:latin typeface="Poppins Italics"/>
                <a:ea typeface="Poppins Italics"/>
                <a:cs typeface="Poppins Italics"/>
                <a:sym typeface="Poppins Italics"/>
              </a:rPr>
              <a:t>нтролює витрати групи</a:t>
            </a:r>
          </a:p>
          <a:p>
            <a:pPr algn="l">
              <a:lnSpc>
                <a:spcPts val="2228"/>
              </a:lnSpc>
            </a:pPr>
          </a:p>
        </p:txBody>
      </p:sp>
      <p:sp>
        <p:nvSpPr>
          <p:cNvPr name="TextBox 20" id="20"/>
          <p:cNvSpPr txBox="true"/>
          <p:nvPr/>
        </p:nvSpPr>
        <p:spPr>
          <a:xfrm rot="0">
            <a:off x="6642083" y="2322940"/>
            <a:ext cx="2483651" cy="2486257"/>
          </a:xfrm>
          <a:prstGeom prst="rect">
            <a:avLst/>
          </a:prstGeom>
        </p:spPr>
        <p:txBody>
          <a:bodyPr anchor="t" rtlCol="false" tIns="0" lIns="0" bIns="0" rIns="0">
            <a:spAutoFit/>
          </a:bodyPr>
          <a:lstStyle/>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Поповню</a:t>
            </a:r>
            <a:r>
              <a:rPr lang="en-US" sz="1856" i="true">
                <a:solidFill>
                  <a:srgbClr val="FFFFFF"/>
                </a:solidFill>
                <a:latin typeface="Poppins Italics"/>
                <a:ea typeface="Poppins Italics"/>
                <a:cs typeface="Poppins Italics"/>
                <a:sym typeface="Poppins Italics"/>
              </a:rPr>
              <a:t>є рахунок</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Здійснює витрати</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Переглядає баланс і ліміти</a:t>
            </a:r>
          </a:p>
          <a:p>
            <a:pPr algn="l" marL="400883" indent="-200442" lvl="1">
              <a:lnSpc>
                <a:spcPts val="2228"/>
              </a:lnSpc>
              <a:buFont typeface="Arial"/>
              <a:buChar char="•"/>
            </a:pPr>
            <a:r>
              <a:rPr lang="en-US" sz="1856" i="true">
                <a:solidFill>
                  <a:srgbClr val="FFFFFF"/>
                </a:solidFill>
                <a:latin typeface="Poppins Italics"/>
                <a:ea typeface="Poppins Italics"/>
                <a:cs typeface="Poppins Italics"/>
                <a:sym typeface="Poppins Italics"/>
              </a:rPr>
              <a:t>Не </a:t>
            </a:r>
            <a:r>
              <a:rPr lang="en-US" sz="1856" i="true">
                <a:solidFill>
                  <a:srgbClr val="FFFFFF"/>
                </a:solidFill>
                <a:latin typeface="Poppins Italics"/>
                <a:ea typeface="Poppins Italics"/>
                <a:cs typeface="Poppins Italics"/>
                <a:sym typeface="Poppins Italics"/>
              </a:rPr>
              <a:t>має доступу до налаштувань обмежень</a:t>
            </a:r>
          </a:p>
          <a:p>
            <a:pPr algn="l">
              <a:lnSpc>
                <a:spcPts val="2228"/>
              </a:lnSpc>
            </a:pPr>
          </a:p>
        </p:txBody>
      </p:sp>
      <p:sp>
        <p:nvSpPr>
          <p:cNvPr name="TextBox 21" id="21"/>
          <p:cNvSpPr txBox="true"/>
          <p:nvPr/>
        </p:nvSpPr>
        <p:spPr>
          <a:xfrm rot="0">
            <a:off x="2762714" y="357177"/>
            <a:ext cx="4229925" cy="545311"/>
          </a:xfrm>
          <a:prstGeom prst="rect">
            <a:avLst/>
          </a:prstGeom>
        </p:spPr>
        <p:txBody>
          <a:bodyPr anchor="t" rtlCol="false" tIns="0" lIns="0" bIns="0" rIns="0">
            <a:spAutoFit/>
          </a:bodyPr>
          <a:lstStyle/>
          <a:p>
            <a:pPr algn="ctr">
              <a:lnSpc>
                <a:spcPts val="4056"/>
              </a:lnSpc>
              <a:spcBef>
                <a:spcPct val="0"/>
              </a:spcBef>
            </a:pPr>
            <a:r>
              <a:rPr lang="en-US" b="true" sz="3380">
                <a:solidFill>
                  <a:srgbClr val="444CA8"/>
                </a:solidFill>
                <a:latin typeface="Poppins Bold"/>
                <a:ea typeface="Poppins Bold"/>
                <a:cs typeface="Poppins Bold"/>
                <a:sym typeface="Poppins Bold"/>
              </a:rPr>
              <a:t>Типи користувачiв</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9295" y="731520"/>
            <a:ext cx="1136397" cy="993831"/>
          </a:xfrm>
          <a:custGeom>
            <a:avLst/>
            <a:gdLst/>
            <a:ahLst/>
            <a:cxnLst/>
            <a:rect r="r" b="b" t="t" l="l"/>
            <a:pathLst>
              <a:path h="993831" w="1136397">
                <a:moveTo>
                  <a:pt x="0" y="0"/>
                </a:moveTo>
                <a:lnTo>
                  <a:pt x="1136397" y="0"/>
                </a:lnTo>
                <a:lnTo>
                  <a:pt x="1136397" y="993831"/>
                </a:lnTo>
                <a:lnTo>
                  <a:pt x="0" y="9938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746941" y="1631066"/>
            <a:ext cx="8498643" cy="5736387"/>
            <a:chOff x="0" y="0"/>
            <a:chExt cx="2524737" cy="1704139"/>
          </a:xfrm>
        </p:grpSpPr>
        <p:sp>
          <p:nvSpPr>
            <p:cNvPr name="Freeform 5" id="5"/>
            <p:cNvSpPr/>
            <p:nvPr/>
          </p:nvSpPr>
          <p:spPr>
            <a:xfrm flipH="false" flipV="false" rot="0">
              <a:off x="0" y="0"/>
              <a:ext cx="2524737" cy="1704139"/>
            </a:xfrm>
            <a:custGeom>
              <a:avLst/>
              <a:gdLst/>
              <a:ahLst/>
              <a:cxnLst/>
              <a:rect r="r" b="b" t="t" l="l"/>
              <a:pathLst>
                <a:path h="1704139" w="2524737">
                  <a:moveTo>
                    <a:pt x="32795" y="0"/>
                  </a:moveTo>
                  <a:lnTo>
                    <a:pt x="2491943" y="0"/>
                  </a:lnTo>
                  <a:cubicBezTo>
                    <a:pt x="2510055" y="0"/>
                    <a:pt x="2524737" y="14683"/>
                    <a:pt x="2524737" y="32795"/>
                  </a:cubicBezTo>
                  <a:lnTo>
                    <a:pt x="2524737" y="1671345"/>
                  </a:lnTo>
                  <a:cubicBezTo>
                    <a:pt x="2524737" y="1680043"/>
                    <a:pt x="2521282" y="1688384"/>
                    <a:pt x="2515132" y="1694534"/>
                  </a:cubicBezTo>
                  <a:cubicBezTo>
                    <a:pt x="2508982" y="1700684"/>
                    <a:pt x="2500640" y="1704139"/>
                    <a:pt x="2491943" y="1704139"/>
                  </a:cubicBezTo>
                  <a:lnTo>
                    <a:pt x="32795" y="1704139"/>
                  </a:lnTo>
                  <a:cubicBezTo>
                    <a:pt x="24097" y="1704139"/>
                    <a:pt x="15755" y="1700684"/>
                    <a:pt x="9605" y="1694534"/>
                  </a:cubicBezTo>
                  <a:cubicBezTo>
                    <a:pt x="3455" y="1688384"/>
                    <a:pt x="0" y="1680043"/>
                    <a:pt x="0" y="1671345"/>
                  </a:cubicBezTo>
                  <a:lnTo>
                    <a:pt x="0" y="32795"/>
                  </a:lnTo>
                  <a:cubicBezTo>
                    <a:pt x="0" y="14683"/>
                    <a:pt x="14683" y="0"/>
                    <a:pt x="32795" y="0"/>
                  </a:cubicBezTo>
                  <a:close/>
                </a:path>
              </a:pathLst>
            </a:custGeom>
            <a:solidFill>
              <a:srgbClr val="FAB440"/>
            </a:solidFill>
          </p:spPr>
        </p:sp>
        <p:sp>
          <p:nvSpPr>
            <p:cNvPr name="TextBox 6" id="6"/>
            <p:cNvSpPr txBox="true"/>
            <p:nvPr/>
          </p:nvSpPr>
          <p:spPr>
            <a:xfrm>
              <a:off x="0" y="-19050"/>
              <a:ext cx="2524737" cy="1723189"/>
            </a:xfrm>
            <a:prstGeom prst="rect">
              <a:avLst/>
            </a:prstGeom>
          </p:spPr>
          <p:txBody>
            <a:bodyPr anchor="ctr" rtlCol="false" tIns="50800" lIns="50800" bIns="50800" rIns="50800"/>
            <a:lstStyle/>
            <a:p>
              <a:pPr algn="ctr">
                <a:lnSpc>
                  <a:spcPts val="2160"/>
                </a:lnSpc>
              </a:pPr>
            </a:p>
          </p:txBody>
        </p:sp>
      </p:grpSp>
      <p:sp>
        <p:nvSpPr>
          <p:cNvPr name="Freeform 7" id="7"/>
          <p:cNvSpPr/>
          <p:nvPr/>
        </p:nvSpPr>
        <p:spPr>
          <a:xfrm flipH="false" flipV="false" rot="0">
            <a:off x="8898650" y="1442133"/>
            <a:ext cx="1864956" cy="1159798"/>
          </a:xfrm>
          <a:custGeom>
            <a:avLst/>
            <a:gdLst/>
            <a:ahLst/>
            <a:cxnLst/>
            <a:rect r="r" b="b" t="t" l="l"/>
            <a:pathLst>
              <a:path h="1159798" w="1864956">
                <a:moveTo>
                  <a:pt x="0" y="0"/>
                </a:moveTo>
                <a:lnTo>
                  <a:pt x="1864956" y="0"/>
                </a:lnTo>
                <a:lnTo>
                  <a:pt x="1864956" y="1159799"/>
                </a:lnTo>
                <a:lnTo>
                  <a:pt x="0" y="11597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62258" y="2108928"/>
            <a:ext cx="1459677" cy="617501"/>
          </a:xfrm>
          <a:prstGeom prst="rect">
            <a:avLst/>
          </a:prstGeom>
        </p:spPr>
        <p:txBody>
          <a:bodyPr anchor="t" rtlCol="false" tIns="0" lIns="0" bIns="0" rIns="0">
            <a:spAutoFit/>
          </a:bodyPr>
          <a:lstStyle/>
          <a:p>
            <a:pPr algn="l">
              <a:lnSpc>
                <a:spcPts val="4907"/>
              </a:lnSpc>
            </a:pPr>
            <a:r>
              <a:rPr lang="en-US" sz="4089" b="true">
                <a:solidFill>
                  <a:srgbClr val="444CA8"/>
                </a:solidFill>
                <a:latin typeface="Montserrat Bold"/>
                <a:ea typeface="Montserrat Bold"/>
                <a:cs typeface="Montserrat Bold"/>
                <a:sym typeface="Montserrat Bold"/>
              </a:rPr>
              <a:t>01</a:t>
            </a:r>
          </a:p>
        </p:txBody>
      </p:sp>
      <p:sp>
        <p:nvSpPr>
          <p:cNvPr name="TextBox 9" id="9"/>
          <p:cNvSpPr txBox="true"/>
          <p:nvPr/>
        </p:nvSpPr>
        <p:spPr>
          <a:xfrm rot="0">
            <a:off x="2662258" y="3838599"/>
            <a:ext cx="1576038" cy="617594"/>
          </a:xfrm>
          <a:prstGeom prst="rect">
            <a:avLst/>
          </a:prstGeom>
        </p:spPr>
        <p:txBody>
          <a:bodyPr anchor="t" rtlCol="false" tIns="0" lIns="0" bIns="0" rIns="0">
            <a:spAutoFit/>
          </a:bodyPr>
          <a:lstStyle/>
          <a:p>
            <a:pPr algn="l">
              <a:lnSpc>
                <a:spcPts val="4907"/>
              </a:lnSpc>
            </a:pPr>
            <a:r>
              <a:rPr lang="en-US" sz="4089" b="true">
                <a:solidFill>
                  <a:srgbClr val="444CA8"/>
                </a:solidFill>
                <a:latin typeface="Montserrat Bold"/>
                <a:ea typeface="Montserrat Bold"/>
                <a:cs typeface="Montserrat Bold"/>
                <a:sym typeface="Montserrat Bold"/>
              </a:rPr>
              <a:t>02</a:t>
            </a:r>
          </a:p>
        </p:txBody>
      </p:sp>
      <p:sp>
        <p:nvSpPr>
          <p:cNvPr name="TextBox 10" id="10"/>
          <p:cNvSpPr txBox="true"/>
          <p:nvPr/>
        </p:nvSpPr>
        <p:spPr>
          <a:xfrm rot="0">
            <a:off x="2656886" y="5386458"/>
            <a:ext cx="1581409" cy="617594"/>
          </a:xfrm>
          <a:prstGeom prst="rect">
            <a:avLst/>
          </a:prstGeom>
        </p:spPr>
        <p:txBody>
          <a:bodyPr anchor="t" rtlCol="false" tIns="0" lIns="0" bIns="0" rIns="0">
            <a:spAutoFit/>
          </a:bodyPr>
          <a:lstStyle/>
          <a:p>
            <a:pPr algn="l">
              <a:lnSpc>
                <a:spcPts val="4907"/>
              </a:lnSpc>
            </a:pPr>
            <a:r>
              <a:rPr lang="en-US" sz="4089" b="true">
                <a:solidFill>
                  <a:srgbClr val="444CA8"/>
                </a:solidFill>
                <a:latin typeface="Montserrat Bold"/>
                <a:ea typeface="Montserrat Bold"/>
                <a:cs typeface="Montserrat Bold"/>
                <a:sym typeface="Montserrat Bold"/>
              </a:rPr>
              <a:t>03</a:t>
            </a:r>
          </a:p>
        </p:txBody>
      </p:sp>
      <p:sp>
        <p:nvSpPr>
          <p:cNvPr name="TextBox 11" id="11"/>
          <p:cNvSpPr txBox="true"/>
          <p:nvPr/>
        </p:nvSpPr>
        <p:spPr>
          <a:xfrm rot="0">
            <a:off x="6229906" y="2122311"/>
            <a:ext cx="1493156" cy="617594"/>
          </a:xfrm>
          <a:prstGeom prst="rect">
            <a:avLst/>
          </a:prstGeom>
        </p:spPr>
        <p:txBody>
          <a:bodyPr anchor="t" rtlCol="false" tIns="0" lIns="0" bIns="0" rIns="0">
            <a:spAutoFit/>
          </a:bodyPr>
          <a:lstStyle/>
          <a:p>
            <a:pPr algn="l">
              <a:lnSpc>
                <a:spcPts val="4907"/>
              </a:lnSpc>
            </a:pPr>
            <a:r>
              <a:rPr lang="en-US" sz="4089" b="true">
                <a:solidFill>
                  <a:srgbClr val="444CA8"/>
                </a:solidFill>
                <a:latin typeface="Montserrat Bold"/>
                <a:ea typeface="Montserrat Bold"/>
                <a:cs typeface="Montserrat Bold"/>
                <a:sym typeface="Montserrat Bold"/>
              </a:rPr>
              <a:t>04</a:t>
            </a:r>
          </a:p>
        </p:txBody>
      </p:sp>
      <p:sp>
        <p:nvSpPr>
          <p:cNvPr name="TextBox 12" id="12"/>
          <p:cNvSpPr txBox="true"/>
          <p:nvPr/>
        </p:nvSpPr>
        <p:spPr>
          <a:xfrm rot="0">
            <a:off x="6283871" y="3838599"/>
            <a:ext cx="1369903" cy="617594"/>
          </a:xfrm>
          <a:prstGeom prst="rect">
            <a:avLst/>
          </a:prstGeom>
        </p:spPr>
        <p:txBody>
          <a:bodyPr anchor="t" rtlCol="false" tIns="0" lIns="0" bIns="0" rIns="0">
            <a:spAutoFit/>
          </a:bodyPr>
          <a:lstStyle/>
          <a:p>
            <a:pPr algn="l">
              <a:lnSpc>
                <a:spcPts val="4907"/>
              </a:lnSpc>
            </a:pPr>
            <a:r>
              <a:rPr lang="en-US" sz="4089" b="true">
                <a:solidFill>
                  <a:srgbClr val="444CA8"/>
                </a:solidFill>
                <a:latin typeface="Montserrat Bold"/>
                <a:ea typeface="Montserrat Bold"/>
                <a:cs typeface="Montserrat Bold"/>
                <a:sym typeface="Montserrat Bold"/>
              </a:rPr>
              <a:t>05</a:t>
            </a:r>
          </a:p>
        </p:txBody>
      </p:sp>
      <p:sp>
        <p:nvSpPr>
          <p:cNvPr name="TextBox 13" id="13"/>
          <p:cNvSpPr txBox="true"/>
          <p:nvPr/>
        </p:nvSpPr>
        <p:spPr>
          <a:xfrm rot="0">
            <a:off x="6261141" y="5386458"/>
            <a:ext cx="1430686" cy="617594"/>
          </a:xfrm>
          <a:prstGeom prst="rect">
            <a:avLst/>
          </a:prstGeom>
        </p:spPr>
        <p:txBody>
          <a:bodyPr anchor="t" rtlCol="false" tIns="0" lIns="0" bIns="0" rIns="0">
            <a:spAutoFit/>
          </a:bodyPr>
          <a:lstStyle/>
          <a:p>
            <a:pPr algn="l">
              <a:lnSpc>
                <a:spcPts val="4907"/>
              </a:lnSpc>
            </a:pPr>
            <a:r>
              <a:rPr lang="en-US" sz="4089" b="true">
                <a:solidFill>
                  <a:srgbClr val="444CA8"/>
                </a:solidFill>
                <a:latin typeface="Montserrat Bold"/>
                <a:ea typeface="Montserrat Bold"/>
                <a:cs typeface="Montserrat Bold"/>
                <a:sym typeface="Montserrat Bold"/>
              </a:rPr>
              <a:t>06</a:t>
            </a:r>
          </a:p>
        </p:txBody>
      </p:sp>
      <p:sp>
        <p:nvSpPr>
          <p:cNvPr name="Freeform 14" id="14"/>
          <p:cNvSpPr/>
          <p:nvPr/>
        </p:nvSpPr>
        <p:spPr>
          <a:xfrm flipH="false" flipV="false" rot="0">
            <a:off x="-1715535" y="2601932"/>
            <a:ext cx="3872951" cy="4997356"/>
          </a:xfrm>
          <a:custGeom>
            <a:avLst/>
            <a:gdLst/>
            <a:ahLst/>
            <a:cxnLst/>
            <a:rect r="r" b="b" t="t" l="l"/>
            <a:pathLst>
              <a:path h="4997356" w="3872951">
                <a:moveTo>
                  <a:pt x="0" y="0"/>
                </a:moveTo>
                <a:lnTo>
                  <a:pt x="3872950" y="0"/>
                </a:lnTo>
                <a:lnTo>
                  <a:pt x="3872950" y="4997356"/>
                </a:lnTo>
                <a:lnTo>
                  <a:pt x="0" y="49973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a:grpSpLocks noChangeAspect="true"/>
          </p:cNvGrpSpPr>
          <p:nvPr/>
        </p:nvGrpSpPr>
        <p:grpSpPr>
          <a:xfrm rot="0">
            <a:off x="8588028" y="524513"/>
            <a:ext cx="414015" cy="414015"/>
            <a:chOff x="0" y="0"/>
            <a:chExt cx="1708150" cy="1708150"/>
          </a:xfrm>
        </p:grpSpPr>
        <p:sp>
          <p:nvSpPr>
            <p:cNvPr name="Freeform 16" id="16"/>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F66C4"/>
            </a:solidFill>
          </p:spPr>
        </p:sp>
      </p:grpSp>
      <p:sp>
        <p:nvSpPr>
          <p:cNvPr name="TextBox 17" id="17"/>
          <p:cNvSpPr txBox="true"/>
          <p:nvPr/>
        </p:nvSpPr>
        <p:spPr>
          <a:xfrm rot="0">
            <a:off x="2606778" y="538503"/>
            <a:ext cx="4540044" cy="689933"/>
          </a:xfrm>
          <a:prstGeom prst="rect">
            <a:avLst/>
          </a:prstGeom>
        </p:spPr>
        <p:txBody>
          <a:bodyPr anchor="t" rtlCol="false" tIns="0" lIns="0" bIns="0" rIns="0">
            <a:spAutoFit/>
          </a:bodyPr>
          <a:lstStyle/>
          <a:p>
            <a:pPr algn="ctr">
              <a:lnSpc>
                <a:spcPts val="5137"/>
              </a:lnSpc>
              <a:spcBef>
                <a:spcPct val="0"/>
              </a:spcBef>
            </a:pPr>
            <a:r>
              <a:rPr lang="en-US" b="true" sz="4281">
                <a:solidFill>
                  <a:srgbClr val="444CA8"/>
                </a:solidFill>
                <a:latin typeface="Poppins Bold"/>
                <a:ea typeface="Poppins Bold"/>
                <a:cs typeface="Poppins Bold"/>
                <a:sym typeface="Poppins Bold"/>
              </a:rPr>
              <a:t>Основні функції</a:t>
            </a:r>
          </a:p>
        </p:txBody>
      </p:sp>
      <p:sp>
        <p:nvSpPr>
          <p:cNvPr name="TextBox 18" id="18"/>
          <p:cNvSpPr txBox="true"/>
          <p:nvPr/>
        </p:nvSpPr>
        <p:spPr>
          <a:xfrm rot="0">
            <a:off x="2662258" y="2711331"/>
            <a:ext cx="3131707" cy="733425"/>
          </a:xfrm>
          <a:prstGeom prst="rect">
            <a:avLst/>
          </a:prstGeom>
        </p:spPr>
        <p:txBody>
          <a:bodyPr anchor="t" rtlCol="false" tIns="0" lIns="0" bIns="0" rIns="0">
            <a:spAutoFit/>
          </a:bodyPr>
          <a:lstStyle/>
          <a:p>
            <a:pPr algn="l">
              <a:lnSpc>
                <a:spcPts val="2828"/>
              </a:lnSpc>
            </a:pPr>
            <a:r>
              <a:rPr lang="en-US" sz="2357" i="true">
                <a:solidFill>
                  <a:srgbClr val="FFFFFF"/>
                </a:solidFill>
                <a:latin typeface="Poppins Italics"/>
                <a:ea typeface="Poppins Italics"/>
                <a:cs typeface="Poppins Italics"/>
                <a:sym typeface="Poppins Italics"/>
              </a:rPr>
              <a:t>Автентифікація та авторизація</a:t>
            </a:r>
          </a:p>
        </p:txBody>
      </p:sp>
      <p:sp>
        <p:nvSpPr>
          <p:cNvPr name="TextBox 19" id="19"/>
          <p:cNvSpPr txBox="true"/>
          <p:nvPr/>
        </p:nvSpPr>
        <p:spPr>
          <a:xfrm rot="0">
            <a:off x="2662258" y="4427619"/>
            <a:ext cx="3567648" cy="381000"/>
          </a:xfrm>
          <a:prstGeom prst="rect">
            <a:avLst/>
          </a:prstGeom>
        </p:spPr>
        <p:txBody>
          <a:bodyPr anchor="t" rtlCol="false" tIns="0" lIns="0" bIns="0" rIns="0">
            <a:spAutoFit/>
          </a:bodyPr>
          <a:lstStyle/>
          <a:p>
            <a:pPr algn="l">
              <a:lnSpc>
                <a:spcPts val="2828"/>
              </a:lnSpc>
            </a:pPr>
            <a:r>
              <a:rPr lang="en-US" sz="2357" i="true">
                <a:solidFill>
                  <a:srgbClr val="FFFFFF"/>
                </a:solidFill>
                <a:latin typeface="Poppins Italics"/>
                <a:ea typeface="Poppins Italics"/>
                <a:cs typeface="Poppins Italics"/>
                <a:sym typeface="Poppins Italics"/>
              </a:rPr>
              <a:t>Управління рахунками</a:t>
            </a:r>
          </a:p>
        </p:txBody>
      </p:sp>
      <p:sp>
        <p:nvSpPr>
          <p:cNvPr name="TextBox 20" id="20"/>
          <p:cNvSpPr txBox="true"/>
          <p:nvPr/>
        </p:nvSpPr>
        <p:spPr>
          <a:xfrm rot="0">
            <a:off x="2662258" y="6024751"/>
            <a:ext cx="3567648" cy="381000"/>
          </a:xfrm>
          <a:prstGeom prst="rect">
            <a:avLst/>
          </a:prstGeom>
        </p:spPr>
        <p:txBody>
          <a:bodyPr anchor="t" rtlCol="false" tIns="0" lIns="0" bIns="0" rIns="0">
            <a:spAutoFit/>
          </a:bodyPr>
          <a:lstStyle/>
          <a:p>
            <a:pPr algn="l">
              <a:lnSpc>
                <a:spcPts val="2828"/>
              </a:lnSpc>
            </a:pPr>
            <a:r>
              <a:rPr lang="en-US" sz="2357" i="true">
                <a:solidFill>
                  <a:srgbClr val="FFFFFF"/>
                </a:solidFill>
                <a:latin typeface="Poppins Italics"/>
                <a:ea typeface="Poppins Italics"/>
                <a:cs typeface="Poppins Italics"/>
                <a:sym typeface="Poppins Italics"/>
              </a:rPr>
              <a:t>Управління тегами</a:t>
            </a:r>
          </a:p>
        </p:txBody>
      </p:sp>
      <p:sp>
        <p:nvSpPr>
          <p:cNvPr name="TextBox 21" id="21"/>
          <p:cNvSpPr txBox="true"/>
          <p:nvPr/>
        </p:nvSpPr>
        <p:spPr>
          <a:xfrm rot="0">
            <a:off x="6229906" y="4470685"/>
            <a:ext cx="3131707" cy="381000"/>
          </a:xfrm>
          <a:prstGeom prst="rect">
            <a:avLst/>
          </a:prstGeom>
        </p:spPr>
        <p:txBody>
          <a:bodyPr anchor="t" rtlCol="false" tIns="0" lIns="0" bIns="0" rIns="0">
            <a:spAutoFit/>
          </a:bodyPr>
          <a:lstStyle/>
          <a:p>
            <a:pPr algn="l">
              <a:lnSpc>
                <a:spcPts val="2828"/>
              </a:lnSpc>
            </a:pPr>
            <a:r>
              <a:rPr lang="en-US" sz="2357" i="true">
                <a:solidFill>
                  <a:srgbClr val="FFFFFF"/>
                </a:solidFill>
                <a:latin typeface="Poppins Italics"/>
                <a:ea typeface="Poppins Italics"/>
                <a:cs typeface="Poppins Italics"/>
                <a:sym typeface="Poppins Italics"/>
              </a:rPr>
              <a:t>Спільні рахунки</a:t>
            </a:r>
          </a:p>
        </p:txBody>
      </p:sp>
      <p:sp>
        <p:nvSpPr>
          <p:cNvPr name="TextBox 22" id="22"/>
          <p:cNvSpPr txBox="true"/>
          <p:nvPr/>
        </p:nvSpPr>
        <p:spPr>
          <a:xfrm rot="0">
            <a:off x="6229906" y="2752749"/>
            <a:ext cx="3567648" cy="733425"/>
          </a:xfrm>
          <a:prstGeom prst="rect">
            <a:avLst/>
          </a:prstGeom>
        </p:spPr>
        <p:txBody>
          <a:bodyPr anchor="t" rtlCol="false" tIns="0" lIns="0" bIns="0" rIns="0">
            <a:spAutoFit/>
          </a:bodyPr>
          <a:lstStyle/>
          <a:p>
            <a:pPr algn="l">
              <a:lnSpc>
                <a:spcPts val="2828"/>
              </a:lnSpc>
            </a:pPr>
            <a:r>
              <a:rPr lang="en-US" sz="2357" i="true">
                <a:solidFill>
                  <a:srgbClr val="FFFFFF"/>
                </a:solidFill>
                <a:latin typeface="Poppins Italics"/>
                <a:ea typeface="Poppins Italics"/>
                <a:cs typeface="Poppins Italics"/>
                <a:sym typeface="Poppins Italics"/>
              </a:rPr>
              <a:t>Управління транзакціями</a:t>
            </a:r>
          </a:p>
        </p:txBody>
      </p:sp>
      <p:sp>
        <p:nvSpPr>
          <p:cNvPr name="TextBox 23" id="23"/>
          <p:cNvSpPr txBox="true"/>
          <p:nvPr/>
        </p:nvSpPr>
        <p:spPr>
          <a:xfrm rot="0">
            <a:off x="6229906" y="6024751"/>
            <a:ext cx="3567648" cy="381000"/>
          </a:xfrm>
          <a:prstGeom prst="rect">
            <a:avLst/>
          </a:prstGeom>
        </p:spPr>
        <p:txBody>
          <a:bodyPr anchor="t" rtlCol="false" tIns="0" lIns="0" bIns="0" rIns="0">
            <a:spAutoFit/>
          </a:bodyPr>
          <a:lstStyle/>
          <a:p>
            <a:pPr algn="l">
              <a:lnSpc>
                <a:spcPts val="2828"/>
              </a:lnSpc>
            </a:pPr>
            <a:r>
              <a:rPr lang="en-US" sz="2357" i="true">
                <a:solidFill>
                  <a:srgbClr val="FFFFFF"/>
                </a:solidFill>
                <a:latin typeface="Poppins Italics"/>
                <a:ea typeface="Poppins Italics"/>
                <a:cs typeface="Poppins Italics"/>
                <a:sym typeface="Poppins Italics"/>
              </a:rPr>
              <a:t>Аналітика</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2617" y="243773"/>
            <a:ext cx="637391" cy="817167"/>
          </a:xfrm>
          <a:custGeom>
            <a:avLst/>
            <a:gdLst/>
            <a:ahLst/>
            <a:cxnLst/>
            <a:rect r="r" b="b" t="t" l="l"/>
            <a:pathLst>
              <a:path h="817167" w="637391">
                <a:moveTo>
                  <a:pt x="0" y="0"/>
                </a:moveTo>
                <a:lnTo>
                  <a:pt x="637391" y="0"/>
                </a:lnTo>
                <a:lnTo>
                  <a:pt x="637391" y="817167"/>
                </a:lnTo>
                <a:lnTo>
                  <a:pt x="0" y="8171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215104">
            <a:off x="8504835" y="702295"/>
            <a:ext cx="804658" cy="696395"/>
          </a:xfrm>
          <a:custGeom>
            <a:avLst/>
            <a:gdLst/>
            <a:ahLst/>
            <a:cxnLst/>
            <a:rect r="r" b="b" t="t" l="l"/>
            <a:pathLst>
              <a:path h="696395" w="804658">
                <a:moveTo>
                  <a:pt x="0" y="0"/>
                </a:moveTo>
                <a:lnTo>
                  <a:pt x="804658" y="0"/>
                </a:lnTo>
                <a:lnTo>
                  <a:pt x="804658" y="696395"/>
                </a:lnTo>
                <a:lnTo>
                  <a:pt x="0" y="6963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26228" y="5159536"/>
            <a:ext cx="1457691" cy="2212814"/>
          </a:xfrm>
          <a:custGeom>
            <a:avLst/>
            <a:gdLst/>
            <a:ahLst/>
            <a:cxnLst/>
            <a:rect r="r" b="b" t="t" l="l"/>
            <a:pathLst>
              <a:path h="2212814" w="1457691">
                <a:moveTo>
                  <a:pt x="0" y="0"/>
                </a:moveTo>
                <a:lnTo>
                  <a:pt x="1457691" y="0"/>
                </a:lnTo>
                <a:lnTo>
                  <a:pt x="1457691" y="2212814"/>
                </a:lnTo>
                <a:lnTo>
                  <a:pt x="0" y="22128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411162" y="1180027"/>
            <a:ext cx="7339729" cy="2235285"/>
            <a:chOff x="0" y="0"/>
            <a:chExt cx="2180453" cy="664048"/>
          </a:xfrm>
        </p:grpSpPr>
        <p:sp>
          <p:nvSpPr>
            <p:cNvPr name="Freeform 7" id="7"/>
            <p:cNvSpPr/>
            <p:nvPr/>
          </p:nvSpPr>
          <p:spPr>
            <a:xfrm flipH="false" flipV="false" rot="0">
              <a:off x="0" y="0"/>
              <a:ext cx="2180453" cy="664048"/>
            </a:xfrm>
            <a:custGeom>
              <a:avLst/>
              <a:gdLst/>
              <a:ahLst/>
              <a:cxnLst/>
              <a:rect r="r" b="b" t="t" l="l"/>
              <a:pathLst>
                <a:path h="664048" w="2180453">
                  <a:moveTo>
                    <a:pt x="37973" y="0"/>
                  </a:moveTo>
                  <a:lnTo>
                    <a:pt x="2142480" y="0"/>
                  </a:lnTo>
                  <a:cubicBezTo>
                    <a:pt x="2152551" y="0"/>
                    <a:pt x="2162209" y="4001"/>
                    <a:pt x="2169331" y="11122"/>
                  </a:cubicBezTo>
                  <a:cubicBezTo>
                    <a:pt x="2176452" y="18243"/>
                    <a:pt x="2180453" y="27902"/>
                    <a:pt x="2180453" y="37973"/>
                  </a:cubicBezTo>
                  <a:lnTo>
                    <a:pt x="2180453" y="626076"/>
                  </a:lnTo>
                  <a:cubicBezTo>
                    <a:pt x="2180453" y="636147"/>
                    <a:pt x="2176452" y="645805"/>
                    <a:pt x="2169331" y="652926"/>
                  </a:cubicBezTo>
                  <a:cubicBezTo>
                    <a:pt x="2162209" y="660048"/>
                    <a:pt x="2152551" y="664048"/>
                    <a:pt x="2142480" y="664048"/>
                  </a:cubicBezTo>
                  <a:lnTo>
                    <a:pt x="37973" y="664048"/>
                  </a:lnTo>
                  <a:cubicBezTo>
                    <a:pt x="27902" y="664048"/>
                    <a:pt x="18243" y="660048"/>
                    <a:pt x="11122" y="652926"/>
                  </a:cubicBezTo>
                  <a:cubicBezTo>
                    <a:pt x="4001" y="645805"/>
                    <a:pt x="0" y="636147"/>
                    <a:pt x="0" y="626076"/>
                  </a:cubicBezTo>
                  <a:lnTo>
                    <a:pt x="0" y="37973"/>
                  </a:lnTo>
                  <a:cubicBezTo>
                    <a:pt x="0" y="27902"/>
                    <a:pt x="4001" y="18243"/>
                    <a:pt x="11122" y="11122"/>
                  </a:cubicBezTo>
                  <a:cubicBezTo>
                    <a:pt x="18243" y="4001"/>
                    <a:pt x="27902" y="0"/>
                    <a:pt x="37973" y="0"/>
                  </a:cubicBezTo>
                  <a:close/>
                </a:path>
              </a:pathLst>
            </a:custGeom>
            <a:solidFill>
              <a:srgbClr val="FF66C4"/>
            </a:solidFill>
          </p:spPr>
        </p:sp>
        <p:sp>
          <p:nvSpPr>
            <p:cNvPr name="TextBox 8" id="8"/>
            <p:cNvSpPr txBox="true"/>
            <p:nvPr/>
          </p:nvSpPr>
          <p:spPr>
            <a:xfrm>
              <a:off x="0" y="-19050"/>
              <a:ext cx="2180453" cy="683098"/>
            </a:xfrm>
            <a:prstGeom prst="rect">
              <a:avLst/>
            </a:prstGeom>
          </p:spPr>
          <p:txBody>
            <a:bodyPr anchor="ctr" rtlCol="false" tIns="50800" lIns="50800" bIns="50800" rIns="50800"/>
            <a:lstStyle/>
            <a:p>
              <a:pPr algn="ctr">
                <a:lnSpc>
                  <a:spcPts val="2160"/>
                </a:lnSpc>
              </a:pPr>
            </a:p>
          </p:txBody>
        </p:sp>
      </p:grpSp>
      <p:sp>
        <p:nvSpPr>
          <p:cNvPr name="TextBox 9" id="9"/>
          <p:cNvSpPr txBox="true"/>
          <p:nvPr/>
        </p:nvSpPr>
        <p:spPr>
          <a:xfrm rot="0">
            <a:off x="1148551" y="1552388"/>
            <a:ext cx="5864953"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Автентифiкація та авторизацiя</a:t>
            </a:r>
          </a:p>
        </p:txBody>
      </p:sp>
      <p:sp>
        <p:nvSpPr>
          <p:cNvPr name="TextBox 10" id="10"/>
          <p:cNvSpPr txBox="true"/>
          <p:nvPr/>
        </p:nvSpPr>
        <p:spPr>
          <a:xfrm rot="0">
            <a:off x="1174495" y="2078594"/>
            <a:ext cx="5813063" cy="808827"/>
          </a:xfrm>
          <a:prstGeom prst="rect">
            <a:avLst/>
          </a:prstGeom>
        </p:spPr>
        <p:txBody>
          <a:bodyPr anchor="t" rtlCol="false" tIns="0" lIns="0" bIns="0" rIns="0">
            <a:spAutoFit/>
          </a:bodyPr>
          <a:lstStyle/>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Реє</a:t>
            </a:r>
            <a:r>
              <a:rPr lang="en-US" sz="2027" i="true">
                <a:solidFill>
                  <a:srgbClr val="FFFFFF"/>
                </a:solidFill>
                <a:latin typeface="Poppins Italics"/>
                <a:ea typeface="Poppins Italics"/>
                <a:cs typeface="Poppins Italics"/>
                <a:sym typeface="Poppins Italics"/>
              </a:rPr>
              <a:t>страція за логіном, паролем та email</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Вхід за логіном або email + пароль</a:t>
            </a:r>
          </a:p>
        </p:txBody>
      </p:sp>
      <p:grpSp>
        <p:nvGrpSpPr>
          <p:cNvPr name="Group 11" id="11"/>
          <p:cNvGrpSpPr/>
          <p:nvPr/>
        </p:nvGrpSpPr>
        <p:grpSpPr>
          <a:xfrm rot="0">
            <a:off x="2086477" y="3882011"/>
            <a:ext cx="7339729" cy="2936119"/>
            <a:chOff x="0" y="0"/>
            <a:chExt cx="2180453" cy="872249"/>
          </a:xfrm>
        </p:grpSpPr>
        <p:sp>
          <p:nvSpPr>
            <p:cNvPr name="Freeform 12" id="12"/>
            <p:cNvSpPr/>
            <p:nvPr/>
          </p:nvSpPr>
          <p:spPr>
            <a:xfrm flipH="false" flipV="false" rot="0">
              <a:off x="0" y="0"/>
              <a:ext cx="2180453" cy="872249"/>
            </a:xfrm>
            <a:custGeom>
              <a:avLst/>
              <a:gdLst/>
              <a:ahLst/>
              <a:cxnLst/>
              <a:rect r="r" b="b" t="t" l="l"/>
              <a:pathLst>
                <a:path h="872249" w="2180453">
                  <a:moveTo>
                    <a:pt x="37973" y="0"/>
                  </a:moveTo>
                  <a:lnTo>
                    <a:pt x="2142480" y="0"/>
                  </a:lnTo>
                  <a:cubicBezTo>
                    <a:pt x="2152551" y="0"/>
                    <a:pt x="2162209" y="4001"/>
                    <a:pt x="2169331" y="11122"/>
                  </a:cubicBezTo>
                  <a:cubicBezTo>
                    <a:pt x="2176452" y="18243"/>
                    <a:pt x="2180453" y="27902"/>
                    <a:pt x="2180453" y="37973"/>
                  </a:cubicBezTo>
                  <a:lnTo>
                    <a:pt x="2180453" y="834276"/>
                  </a:lnTo>
                  <a:cubicBezTo>
                    <a:pt x="2180453" y="844347"/>
                    <a:pt x="2176452" y="854006"/>
                    <a:pt x="2169331" y="861127"/>
                  </a:cubicBezTo>
                  <a:cubicBezTo>
                    <a:pt x="2162209" y="868248"/>
                    <a:pt x="2152551" y="872249"/>
                    <a:pt x="2142480" y="872249"/>
                  </a:cubicBezTo>
                  <a:lnTo>
                    <a:pt x="37973" y="872249"/>
                  </a:lnTo>
                  <a:cubicBezTo>
                    <a:pt x="27902" y="872249"/>
                    <a:pt x="18243" y="868248"/>
                    <a:pt x="11122" y="861127"/>
                  </a:cubicBezTo>
                  <a:cubicBezTo>
                    <a:pt x="4001" y="854006"/>
                    <a:pt x="0" y="844347"/>
                    <a:pt x="0" y="834276"/>
                  </a:cubicBezTo>
                  <a:lnTo>
                    <a:pt x="0" y="37973"/>
                  </a:lnTo>
                  <a:cubicBezTo>
                    <a:pt x="0" y="27902"/>
                    <a:pt x="4001" y="18243"/>
                    <a:pt x="11122" y="11122"/>
                  </a:cubicBezTo>
                  <a:cubicBezTo>
                    <a:pt x="18243" y="4001"/>
                    <a:pt x="27902" y="0"/>
                    <a:pt x="37973" y="0"/>
                  </a:cubicBezTo>
                  <a:close/>
                </a:path>
              </a:pathLst>
            </a:custGeom>
            <a:solidFill>
              <a:srgbClr val="6063B8"/>
            </a:solidFill>
          </p:spPr>
        </p:sp>
        <p:sp>
          <p:nvSpPr>
            <p:cNvPr name="TextBox 13" id="13"/>
            <p:cNvSpPr txBox="true"/>
            <p:nvPr/>
          </p:nvSpPr>
          <p:spPr>
            <a:xfrm>
              <a:off x="0" y="-19050"/>
              <a:ext cx="2180453" cy="891299"/>
            </a:xfrm>
            <a:prstGeom prst="rect">
              <a:avLst/>
            </a:prstGeom>
          </p:spPr>
          <p:txBody>
            <a:bodyPr anchor="ctr" rtlCol="false" tIns="50800" lIns="50800" bIns="50800" rIns="50800"/>
            <a:lstStyle/>
            <a:p>
              <a:pPr algn="ctr">
                <a:lnSpc>
                  <a:spcPts val="2160"/>
                </a:lnSpc>
              </a:pPr>
            </a:p>
          </p:txBody>
        </p:sp>
      </p:grpSp>
      <p:sp>
        <p:nvSpPr>
          <p:cNvPr name="TextBox 14" id="14"/>
          <p:cNvSpPr txBox="true"/>
          <p:nvPr/>
        </p:nvSpPr>
        <p:spPr>
          <a:xfrm rot="0">
            <a:off x="2823865" y="4254372"/>
            <a:ext cx="5864953"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Упр</a:t>
            </a:r>
            <a:r>
              <a:rPr lang="en-US" b="true" sz="2427" i="true">
                <a:solidFill>
                  <a:srgbClr val="FFFFFF"/>
                </a:solidFill>
                <a:latin typeface="Poppins Bold Italics"/>
                <a:ea typeface="Poppins Bold Italics"/>
                <a:cs typeface="Poppins Bold Italics"/>
                <a:sym typeface="Poppins Bold Italics"/>
              </a:rPr>
              <a:t>авлiння рахунками</a:t>
            </a:r>
          </a:p>
        </p:txBody>
      </p:sp>
      <p:sp>
        <p:nvSpPr>
          <p:cNvPr name="TextBox 15" id="15"/>
          <p:cNvSpPr txBox="true"/>
          <p:nvPr/>
        </p:nvSpPr>
        <p:spPr>
          <a:xfrm rot="0">
            <a:off x="2599398" y="4778247"/>
            <a:ext cx="6313887" cy="1627977"/>
          </a:xfrm>
          <a:prstGeom prst="rect">
            <a:avLst/>
          </a:prstGeom>
        </p:spPr>
        <p:txBody>
          <a:bodyPr anchor="t" rtlCol="false" tIns="0" lIns="0" bIns="0" rIns="0">
            <a:spAutoFit/>
          </a:bodyPr>
          <a:lstStyle/>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С</a:t>
            </a:r>
            <a:r>
              <a:rPr lang="en-US" sz="2027" i="true">
                <a:solidFill>
                  <a:srgbClr val="FFFFFF"/>
                </a:solidFill>
                <a:latin typeface="Poppins Italics"/>
                <a:ea typeface="Poppins Italics"/>
                <a:cs typeface="Poppins Italics"/>
                <a:sym typeface="Poppins Italics"/>
              </a:rPr>
              <a:t>творення кількох рахунків (картка, готівка, спільний)</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Перегля</a:t>
            </a:r>
            <a:r>
              <a:rPr lang="en-US" sz="2027" i="true">
                <a:solidFill>
                  <a:srgbClr val="FFFFFF"/>
                </a:solidFill>
                <a:latin typeface="Poppins Italics"/>
                <a:ea typeface="Poppins Italics"/>
                <a:cs typeface="Poppins Italics"/>
                <a:sym typeface="Poppins Italics"/>
              </a:rPr>
              <a:t>д балансу по кожному рахунку</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Встановлення лімітів на рахунок</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2068" y="1607597"/>
            <a:ext cx="1457691" cy="2212814"/>
          </a:xfrm>
          <a:custGeom>
            <a:avLst/>
            <a:gdLst/>
            <a:ahLst/>
            <a:cxnLst/>
            <a:rect r="r" b="b" t="t" l="l"/>
            <a:pathLst>
              <a:path h="2212814" w="1457691">
                <a:moveTo>
                  <a:pt x="0" y="0"/>
                </a:moveTo>
                <a:lnTo>
                  <a:pt x="1457691" y="0"/>
                </a:lnTo>
                <a:lnTo>
                  <a:pt x="1457691" y="2212814"/>
                </a:lnTo>
                <a:lnTo>
                  <a:pt x="0" y="2212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086477" y="731520"/>
            <a:ext cx="7339729" cy="2337359"/>
            <a:chOff x="0" y="0"/>
            <a:chExt cx="2180453" cy="694372"/>
          </a:xfrm>
        </p:grpSpPr>
        <p:sp>
          <p:nvSpPr>
            <p:cNvPr name="Freeform 5" id="5"/>
            <p:cNvSpPr/>
            <p:nvPr/>
          </p:nvSpPr>
          <p:spPr>
            <a:xfrm flipH="false" flipV="false" rot="0">
              <a:off x="0" y="0"/>
              <a:ext cx="2180453" cy="694372"/>
            </a:xfrm>
            <a:custGeom>
              <a:avLst/>
              <a:gdLst/>
              <a:ahLst/>
              <a:cxnLst/>
              <a:rect r="r" b="b" t="t" l="l"/>
              <a:pathLst>
                <a:path h="694372" w="2180453">
                  <a:moveTo>
                    <a:pt x="37973" y="0"/>
                  </a:moveTo>
                  <a:lnTo>
                    <a:pt x="2142480" y="0"/>
                  </a:lnTo>
                  <a:cubicBezTo>
                    <a:pt x="2152551" y="0"/>
                    <a:pt x="2162209" y="4001"/>
                    <a:pt x="2169331" y="11122"/>
                  </a:cubicBezTo>
                  <a:cubicBezTo>
                    <a:pt x="2176452" y="18243"/>
                    <a:pt x="2180453" y="27902"/>
                    <a:pt x="2180453" y="37973"/>
                  </a:cubicBezTo>
                  <a:lnTo>
                    <a:pt x="2180453" y="656399"/>
                  </a:lnTo>
                  <a:cubicBezTo>
                    <a:pt x="2180453" y="666470"/>
                    <a:pt x="2176452" y="676129"/>
                    <a:pt x="2169331" y="683250"/>
                  </a:cubicBezTo>
                  <a:cubicBezTo>
                    <a:pt x="2162209" y="690371"/>
                    <a:pt x="2152551" y="694372"/>
                    <a:pt x="2142480" y="694372"/>
                  </a:cubicBezTo>
                  <a:lnTo>
                    <a:pt x="37973" y="694372"/>
                  </a:lnTo>
                  <a:cubicBezTo>
                    <a:pt x="27902" y="694372"/>
                    <a:pt x="18243" y="690371"/>
                    <a:pt x="11122" y="683250"/>
                  </a:cubicBezTo>
                  <a:cubicBezTo>
                    <a:pt x="4001" y="676129"/>
                    <a:pt x="0" y="666470"/>
                    <a:pt x="0" y="656399"/>
                  </a:cubicBezTo>
                  <a:lnTo>
                    <a:pt x="0" y="37973"/>
                  </a:lnTo>
                  <a:cubicBezTo>
                    <a:pt x="0" y="27902"/>
                    <a:pt x="4001" y="18243"/>
                    <a:pt x="11122" y="11122"/>
                  </a:cubicBezTo>
                  <a:cubicBezTo>
                    <a:pt x="18243" y="4001"/>
                    <a:pt x="27902" y="0"/>
                    <a:pt x="37973" y="0"/>
                  </a:cubicBezTo>
                  <a:close/>
                </a:path>
              </a:pathLst>
            </a:custGeom>
            <a:solidFill>
              <a:srgbClr val="F47031"/>
            </a:solidFill>
          </p:spPr>
        </p:sp>
        <p:sp>
          <p:nvSpPr>
            <p:cNvPr name="TextBox 6" id="6"/>
            <p:cNvSpPr txBox="true"/>
            <p:nvPr/>
          </p:nvSpPr>
          <p:spPr>
            <a:xfrm>
              <a:off x="0" y="-19050"/>
              <a:ext cx="2180453" cy="713422"/>
            </a:xfrm>
            <a:prstGeom prst="rect">
              <a:avLst/>
            </a:prstGeom>
          </p:spPr>
          <p:txBody>
            <a:bodyPr anchor="ctr" rtlCol="false" tIns="50800" lIns="50800" bIns="50800" rIns="50800"/>
            <a:lstStyle/>
            <a:p>
              <a:pPr algn="ctr">
                <a:lnSpc>
                  <a:spcPts val="2160"/>
                </a:lnSpc>
              </a:pPr>
            </a:p>
          </p:txBody>
        </p:sp>
      </p:grpSp>
      <p:sp>
        <p:nvSpPr>
          <p:cNvPr name="TextBox 7" id="7"/>
          <p:cNvSpPr txBox="true"/>
          <p:nvPr/>
        </p:nvSpPr>
        <p:spPr>
          <a:xfrm rot="0">
            <a:off x="2849810" y="922906"/>
            <a:ext cx="5864953"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Упр</a:t>
            </a:r>
            <a:r>
              <a:rPr lang="en-US" b="true" sz="2427" i="true">
                <a:solidFill>
                  <a:srgbClr val="FFFFFF"/>
                </a:solidFill>
                <a:latin typeface="Poppins Bold Italics"/>
                <a:ea typeface="Poppins Bold Italics"/>
                <a:cs typeface="Poppins Bold Italics"/>
                <a:sym typeface="Poppins Bold Italics"/>
              </a:rPr>
              <a:t>авлiння тегами</a:t>
            </a:r>
          </a:p>
        </p:txBody>
      </p:sp>
      <p:sp>
        <p:nvSpPr>
          <p:cNvPr name="TextBox 8" id="8"/>
          <p:cNvSpPr txBox="true"/>
          <p:nvPr/>
        </p:nvSpPr>
        <p:spPr>
          <a:xfrm rot="0">
            <a:off x="2849810" y="1451868"/>
            <a:ext cx="5813063" cy="1218402"/>
          </a:xfrm>
          <a:prstGeom prst="rect">
            <a:avLst/>
          </a:prstGeom>
        </p:spPr>
        <p:txBody>
          <a:bodyPr anchor="t" rtlCol="false" tIns="0" lIns="0" bIns="0" rIns="0">
            <a:spAutoFit/>
          </a:bodyPr>
          <a:lstStyle/>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С</a:t>
            </a:r>
            <a:r>
              <a:rPr lang="en-US" sz="2027" i="true">
                <a:solidFill>
                  <a:srgbClr val="FFFFFF"/>
                </a:solidFill>
                <a:latin typeface="Poppins Italics"/>
                <a:ea typeface="Poppins Italics"/>
                <a:cs typeface="Poppins Italics"/>
                <a:sym typeface="Poppins Italics"/>
              </a:rPr>
              <a:t>творення власних тегів</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Встановлення лімітів на конкретні теги</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Прив’я</a:t>
            </a:r>
            <a:r>
              <a:rPr lang="en-US" sz="2027" i="true">
                <a:solidFill>
                  <a:srgbClr val="FFFFFF"/>
                </a:solidFill>
                <a:latin typeface="Poppins Italics"/>
                <a:ea typeface="Poppins Italics"/>
                <a:cs typeface="Poppins Italics"/>
                <a:sym typeface="Poppins Italics"/>
              </a:rPr>
              <a:t>зка іконок до тегів</a:t>
            </a:r>
          </a:p>
        </p:txBody>
      </p:sp>
      <p:grpSp>
        <p:nvGrpSpPr>
          <p:cNvPr name="Group 9" id="9"/>
          <p:cNvGrpSpPr/>
          <p:nvPr/>
        </p:nvGrpSpPr>
        <p:grpSpPr>
          <a:xfrm rot="0">
            <a:off x="317193" y="3657600"/>
            <a:ext cx="7339729" cy="2936119"/>
            <a:chOff x="0" y="0"/>
            <a:chExt cx="2180453" cy="872249"/>
          </a:xfrm>
        </p:grpSpPr>
        <p:sp>
          <p:nvSpPr>
            <p:cNvPr name="Freeform 10" id="10"/>
            <p:cNvSpPr/>
            <p:nvPr/>
          </p:nvSpPr>
          <p:spPr>
            <a:xfrm flipH="false" flipV="false" rot="0">
              <a:off x="0" y="0"/>
              <a:ext cx="2180453" cy="872249"/>
            </a:xfrm>
            <a:custGeom>
              <a:avLst/>
              <a:gdLst/>
              <a:ahLst/>
              <a:cxnLst/>
              <a:rect r="r" b="b" t="t" l="l"/>
              <a:pathLst>
                <a:path h="872249" w="2180453">
                  <a:moveTo>
                    <a:pt x="37973" y="0"/>
                  </a:moveTo>
                  <a:lnTo>
                    <a:pt x="2142480" y="0"/>
                  </a:lnTo>
                  <a:cubicBezTo>
                    <a:pt x="2152551" y="0"/>
                    <a:pt x="2162209" y="4001"/>
                    <a:pt x="2169331" y="11122"/>
                  </a:cubicBezTo>
                  <a:cubicBezTo>
                    <a:pt x="2176452" y="18243"/>
                    <a:pt x="2180453" y="27902"/>
                    <a:pt x="2180453" y="37973"/>
                  </a:cubicBezTo>
                  <a:lnTo>
                    <a:pt x="2180453" y="834276"/>
                  </a:lnTo>
                  <a:cubicBezTo>
                    <a:pt x="2180453" y="844347"/>
                    <a:pt x="2176452" y="854006"/>
                    <a:pt x="2169331" y="861127"/>
                  </a:cubicBezTo>
                  <a:cubicBezTo>
                    <a:pt x="2162209" y="868248"/>
                    <a:pt x="2152551" y="872249"/>
                    <a:pt x="2142480" y="872249"/>
                  </a:cubicBezTo>
                  <a:lnTo>
                    <a:pt x="37973" y="872249"/>
                  </a:lnTo>
                  <a:cubicBezTo>
                    <a:pt x="27902" y="872249"/>
                    <a:pt x="18243" y="868248"/>
                    <a:pt x="11122" y="861127"/>
                  </a:cubicBezTo>
                  <a:cubicBezTo>
                    <a:pt x="4001" y="854006"/>
                    <a:pt x="0" y="844347"/>
                    <a:pt x="0" y="834276"/>
                  </a:cubicBezTo>
                  <a:lnTo>
                    <a:pt x="0" y="37973"/>
                  </a:lnTo>
                  <a:cubicBezTo>
                    <a:pt x="0" y="27902"/>
                    <a:pt x="4001" y="18243"/>
                    <a:pt x="11122" y="11122"/>
                  </a:cubicBezTo>
                  <a:cubicBezTo>
                    <a:pt x="18243" y="4001"/>
                    <a:pt x="27902" y="0"/>
                    <a:pt x="37973" y="0"/>
                  </a:cubicBezTo>
                  <a:close/>
                </a:path>
              </a:pathLst>
            </a:custGeom>
            <a:solidFill>
              <a:srgbClr val="FAB440"/>
            </a:solidFill>
          </p:spPr>
        </p:sp>
        <p:sp>
          <p:nvSpPr>
            <p:cNvPr name="TextBox 11" id="11"/>
            <p:cNvSpPr txBox="true"/>
            <p:nvPr/>
          </p:nvSpPr>
          <p:spPr>
            <a:xfrm>
              <a:off x="0" y="-19050"/>
              <a:ext cx="2180453" cy="891299"/>
            </a:xfrm>
            <a:prstGeom prst="rect">
              <a:avLst/>
            </a:prstGeom>
          </p:spPr>
          <p:txBody>
            <a:bodyPr anchor="ctr" rtlCol="false" tIns="50800" lIns="50800" bIns="50800" rIns="50800"/>
            <a:lstStyle/>
            <a:p>
              <a:pPr algn="ctr">
                <a:lnSpc>
                  <a:spcPts val="2160"/>
                </a:lnSpc>
              </a:pPr>
            </a:p>
          </p:txBody>
        </p:sp>
      </p:grpSp>
      <p:sp>
        <p:nvSpPr>
          <p:cNvPr name="TextBox 12" id="12"/>
          <p:cNvSpPr txBox="true"/>
          <p:nvPr/>
        </p:nvSpPr>
        <p:spPr>
          <a:xfrm rot="0">
            <a:off x="1054582" y="4029961"/>
            <a:ext cx="5864953"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Спi</a:t>
            </a:r>
            <a:r>
              <a:rPr lang="en-US" b="true" sz="2427" i="true">
                <a:solidFill>
                  <a:srgbClr val="FFFFFF"/>
                </a:solidFill>
                <a:latin typeface="Poppins Bold Italics"/>
                <a:ea typeface="Poppins Bold Italics"/>
                <a:cs typeface="Poppins Bold Italics"/>
                <a:sym typeface="Poppins Bold Italics"/>
              </a:rPr>
              <a:t>льнi рахунки</a:t>
            </a:r>
          </a:p>
        </p:txBody>
      </p:sp>
      <p:sp>
        <p:nvSpPr>
          <p:cNvPr name="TextBox 13" id="13"/>
          <p:cNvSpPr txBox="true"/>
          <p:nvPr/>
        </p:nvSpPr>
        <p:spPr>
          <a:xfrm rot="0">
            <a:off x="1195880" y="4563361"/>
            <a:ext cx="5582356" cy="1627977"/>
          </a:xfrm>
          <a:prstGeom prst="rect">
            <a:avLst/>
          </a:prstGeom>
        </p:spPr>
        <p:txBody>
          <a:bodyPr anchor="t" rtlCol="false" tIns="0" lIns="0" bIns="0" rIns="0">
            <a:spAutoFit/>
          </a:bodyPr>
          <a:lstStyle/>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Запр</a:t>
            </a:r>
            <a:r>
              <a:rPr lang="en-US" sz="2027" i="true">
                <a:solidFill>
                  <a:srgbClr val="FFFFFF"/>
                </a:solidFill>
                <a:latin typeface="Poppins Italics"/>
                <a:ea typeface="Poppins Italics"/>
                <a:cs typeface="Poppins Italics"/>
                <a:sym typeface="Poppins Italics"/>
              </a:rPr>
              <a:t>ошення користувачів</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Ролі: Адмін / Користувач</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Пер</a:t>
            </a:r>
            <a:r>
              <a:rPr lang="en-US" sz="2027" i="true">
                <a:solidFill>
                  <a:srgbClr val="FFFFFF"/>
                </a:solidFill>
                <a:latin typeface="Poppins Italics"/>
                <a:ea typeface="Poppins Italics"/>
                <a:cs typeface="Poppins Italics"/>
                <a:sym typeface="Poppins Italics"/>
              </a:rPr>
              <a:t>сональні та загальні ліміти</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Сповіщення адміна про перевищення</a:t>
            </a:r>
          </a:p>
        </p:txBody>
      </p:sp>
      <p:sp>
        <p:nvSpPr>
          <p:cNvPr name="Freeform 14" id="14"/>
          <p:cNvSpPr/>
          <p:nvPr/>
        </p:nvSpPr>
        <p:spPr>
          <a:xfrm flipH="false" flipV="false" rot="0">
            <a:off x="8375446" y="5424975"/>
            <a:ext cx="1622152" cy="1886223"/>
          </a:xfrm>
          <a:custGeom>
            <a:avLst/>
            <a:gdLst/>
            <a:ahLst/>
            <a:cxnLst/>
            <a:rect r="r" b="b" t="t" l="l"/>
            <a:pathLst>
              <a:path h="1886223" w="1622152">
                <a:moveTo>
                  <a:pt x="0" y="0"/>
                </a:moveTo>
                <a:lnTo>
                  <a:pt x="1622151" y="0"/>
                </a:lnTo>
                <a:lnTo>
                  <a:pt x="1622151" y="1886223"/>
                </a:lnTo>
                <a:lnTo>
                  <a:pt x="0" y="18862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5" id="15"/>
          <p:cNvGrpSpPr>
            <a:grpSpLocks noChangeAspect="true"/>
          </p:cNvGrpSpPr>
          <p:nvPr/>
        </p:nvGrpSpPr>
        <p:grpSpPr>
          <a:xfrm rot="0">
            <a:off x="1195880" y="44548"/>
            <a:ext cx="724849" cy="724849"/>
            <a:chOff x="0" y="0"/>
            <a:chExt cx="1708150" cy="1708150"/>
          </a:xfrm>
        </p:grpSpPr>
        <p:sp>
          <p:nvSpPr>
            <p:cNvPr name="Freeform 16" id="16"/>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6063B8"/>
            </a:solidFill>
          </p:spPr>
        </p:sp>
      </p:grpSp>
      <p:grpSp>
        <p:nvGrpSpPr>
          <p:cNvPr name="Group 17" id="17"/>
          <p:cNvGrpSpPr>
            <a:grpSpLocks noChangeAspect="true"/>
          </p:cNvGrpSpPr>
          <p:nvPr/>
        </p:nvGrpSpPr>
        <p:grpSpPr>
          <a:xfrm rot="0">
            <a:off x="731520" y="-177323"/>
            <a:ext cx="724849" cy="724849"/>
            <a:chOff x="0" y="0"/>
            <a:chExt cx="1708150" cy="1708150"/>
          </a:xfrm>
        </p:grpSpPr>
        <p:sp>
          <p:nvSpPr>
            <p:cNvPr name="Freeform 18" id="18"/>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14930"/>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38354" y="1360977"/>
            <a:ext cx="7339729" cy="3987556"/>
            <a:chOff x="0" y="0"/>
            <a:chExt cx="2180453" cy="1184605"/>
          </a:xfrm>
        </p:grpSpPr>
        <p:sp>
          <p:nvSpPr>
            <p:cNvPr name="Freeform 4" id="4"/>
            <p:cNvSpPr/>
            <p:nvPr/>
          </p:nvSpPr>
          <p:spPr>
            <a:xfrm flipH="false" flipV="false" rot="0">
              <a:off x="0" y="0"/>
              <a:ext cx="2180453" cy="1184605"/>
            </a:xfrm>
            <a:custGeom>
              <a:avLst/>
              <a:gdLst/>
              <a:ahLst/>
              <a:cxnLst/>
              <a:rect r="r" b="b" t="t" l="l"/>
              <a:pathLst>
                <a:path h="1184605" w="2180453">
                  <a:moveTo>
                    <a:pt x="37973" y="0"/>
                  </a:moveTo>
                  <a:lnTo>
                    <a:pt x="2142480" y="0"/>
                  </a:lnTo>
                  <a:cubicBezTo>
                    <a:pt x="2152551" y="0"/>
                    <a:pt x="2162209" y="4001"/>
                    <a:pt x="2169331" y="11122"/>
                  </a:cubicBezTo>
                  <a:cubicBezTo>
                    <a:pt x="2176452" y="18243"/>
                    <a:pt x="2180453" y="27902"/>
                    <a:pt x="2180453" y="37973"/>
                  </a:cubicBezTo>
                  <a:lnTo>
                    <a:pt x="2180453" y="1146632"/>
                  </a:lnTo>
                  <a:cubicBezTo>
                    <a:pt x="2180453" y="1156703"/>
                    <a:pt x="2176452" y="1166362"/>
                    <a:pt x="2169331" y="1173483"/>
                  </a:cubicBezTo>
                  <a:cubicBezTo>
                    <a:pt x="2162209" y="1180604"/>
                    <a:pt x="2152551" y="1184605"/>
                    <a:pt x="2142480" y="1184605"/>
                  </a:cubicBezTo>
                  <a:lnTo>
                    <a:pt x="37973" y="1184605"/>
                  </a:lnTo>
                  <a:cubicBezTo>
                    <a:pt x="27902" y="1184605"/>
                    <a:pt x="18243" y="1180604"/>
                    <a:pt x="11122" y="1173483"/>
                  </a:cubicBezTo>
                  <a:cubicBezTo>
                    <a:pt x="4001" y="1166362"/>
                    <a:pt x="0" y="1156703"/>
                    <a:pt x="0" y="1146632"/>
                  </a:cubicBezTo>
                  <a:lnTo>
                    <a:pt x="0" y="37973"/>
                  </a:lnTo>
                  <a:cubicBezTo>
                    <a:pt x="0" y="27902"/>
                    <a:pt x="4001" y="18243"/>
                    <a:pt x="11122" y="11122"/>
                  </a:cubicBezTo>
                  <a:cubicBezTo>
                    <a:pt x="18243" y="4001"/>
                    <a:pt x="27902" y="0"/>
                    <a:pt x="37973" y="0"/>
                  </a:cubicBezTo>
                  <a:close/>
                </a:path>
              </a:pathLst>
            </a:custGeom>
            <a:solidFill>
              <a:srgbClr val="E0DEF2"/>
            </a:solidFill>
          </p:spPr>
        </p:sp>
        <p:sp>
          <p:nvSpPr>
            <p:cNvPr name="TextBox 5" id="5"/>
            <p:cNvSpPr txBox="true"/>
            <p:nvPr/>
          </p:nvSpPr>
          <p:spPr>
            <a:xfrm>
              <a:off x="0" y="-19050"/>
              <a:ext cx="2180453" cy="1203655"/>
            </a:xfrm>
            <a:prstGeom prst="rect">
              <a:avLst/>
            </a:prstGeom>
          </p:spPr>
          <p:txBody>
            <a:bodyPr anchor="ctr" rtlCol="false" tIns="50800" lIns="50800" bIns="50800" rIns="50800"/>
            <a:lstStyle/>
            <a:p>
              <a:pPr algn="ctr">
                <a:lnSpc>
                  <a:spcPts val="2160"/>
                </a:lnSpc>
              </a:pPr>
            </a:p>
          </p:txBody>
        </p:sp>
      </p:grpSp>
      <p:sp>
        <p:nvSpPr>
          <p:cNvPr name="TextBox 6" id="6"/>
          <p:cNvSpPr txBox="true"/>
          <p:nvPr/>
        </p:nvSpPr>
        <p:spPr>
          <a:xfrm rot="0">
            <a:off x="1301687" y="1552363"/>
            <a:ext cx="5864953" cy="390525"/>
          </a:xfrm>
          <a:prstGeom prst="rect">
            <a:avLst/>
          </a:prstGeom>
        </p:spPr>
        <p:txBody>
          <a:bodyPr anchor="t" rtlCol="false" tIns="0" lIns="0" bIns="0" rIns="0">
            <a:spAutoFit/>
          </a:bodyPr>
          <a:lstStyle/>
          <a:p>
            <a:pPr algn="ctr">
              <a:lnSpc>
                <a:spcPts val="2913"/>
              </a:lnSpc>
            </a:pPr>
            <a:r>
              <a:rPr lang="en-US" b="true" sz="2427" i="true">
                <a:solidFill>
                  <a:srgbClr val="444CA8"/>
                </a:solidFill>
                <a:latin typeface="Poppins Bold Italics"/>
                <a:ea typeface="Poppins Bold Italics"/>
                <a:cs typeface="Poppins Bold Italics"/>
                <a:sym typeface="Poppins Bold Italics"/>
              </a:rPr>
              <a:t>Управлiння транзакцiями</a:t>
            </a:r>
          </a:p>
        </p:txBody>
      </p:sp>
      <p:sp>
        <p:nvSpPr>
          <p:cNvPr name="TextBox 7" id="7"/>
          <p:cNvSpPr txBox="true"/>
          <p:nvPr/>
        </p:nvSpPr>
        <p:spPr>
          <a:xfrm rot="0">
            <a:off x="1301687" y="2183399"/>
            <a:ext cx="5813063" cy="2856702"/>
          </a:xfrm>
          <a:prstGeom prst="rect">
            <a:avLst/>
          </a:prstGeom>
        </p:spPr>
        <p:txBody>
          <a:bodyPr anchor="t" rtlCol="false" tIns="0" lIns="0" bIns="0" rIns="0">
            <a:spAutoFit/>
          </a:bodyPr>
          <a:lstStyle/>
          <a:p>
            <a:pPr algn="l" marL="437743" indent="-218872" lvl="1">
              <a:lnSpc>
                <a:spcPts val="3264"/>
              </a:lnSpc>
              <a:buFont typeface="Arial"/>
              <a:buChar char="•"/>
            </a:pPr>
            <a:r>
              <a:rPr lang="en-US" sz="2027" i="true">
                <a:solidFill>
                  <a:srgbClr val="444CA8"/>
                </a:solidFill>
                <a:latin typeface="Poppins Italics"/>
                <a:ea typeface="Poppins Italics"/>
                <a:cs typeface="Poppins Italics"/>
                <a:sym typeface="Poppins Italics"/>
              </a:rPr>
              <a:t>Додавання доходів та витрат</a:t>
            </a:r>
          </a:p>
          <a:p>
            <a:pPr algn="l" marL="437743" indent="-218872" lvl="1">
              <a:lnSpc>
                <a:spcPts val="3264"/>
              </a:lnSpc>
              <a:buFont typeface="Arial"/>
              <a:buChar char="•"/>
            </a:pPr>
            <a:r>
              <a:rPr lang="en-US" sz="2027" i="true">
                <a:solidFill>
                  <a:srgbClr val="444CA8"/>
                </a:solidFill>
                <a:latin typeface="Poppins Italics"/>
                <a:ea typeface="Poppins Italics"/>
                <a:cs typeface="Poppins Italics"/>
                <a:sym typeface="Poppins Italics"/>
              </a:rPr>
              <a:t>Фіксація: назви, суми, рахунку, тегу, опису, автора</a:t>
            </a:r>
          </a:p>
          <a:p>
            <a:pPr algn="l" marL="437743" indent="-218872" lvl="1">
              <a:lnSpc>
                <a:spcPts val="3264"/>
              </a:lnSpc>
              <a:buFont typeface="Arial"/>
              <a:buChar char="•"/>
            </a:pPr>
            <a:r>
              <a:rPr lang="en-US" sz="2027" i="true">
                <a:solidFill>
                  <a:srgbClr val="444CA8"/>
                </a:solidFill>
                <a:latin typeface="Poppins Italics"/>
                <a:ea typeface="Poppins Italics"/>
                <a:cs typeface="Poppins Italics"/>
                <a:sym typeface="Poppins Italics"/>
              </a:rPr>
              <a:t>Єдине поле пошуку</a:t>
            </a:r>
          </a:p>
          <a:p>
            <a:pPr algn="l" marL="437743" indent="-218872" lvl="1">
              <a:lnSpc>
                <a:spcPts val="3264"/>
              </a:lnSpc>
              <a:buFont typeface="Arial"/>
              <a:buChar char="•"/>
            </a:pPr>
            <a:r>
              <a:rPr lang="en-US" sz="2027" i="true">
                <a:solidFill>
                  <a:srgbClr val="444CA8"/>
                </a:solidFill>
                <a:latin typeface="Poppins Italics"/>
                <a:ea typeface="Poppins Italics"/>
                <a:cs typeface="Poppins Italics"/>
                <a:sym typeface="Poppins Italics"/>
              </a:rPr>
              <a:t>Можливість негативного балансу</a:t>
            </a:r>
          </a:p>
          <a:p>
            <a:pPr algn="l" marL="437743" indent="-218872" lvl="1">
              <a:lnSpc>
                <a:spcPts val="3264"/>
              </a:lnSpc>
              <a:buFont typeface="Arial"/>
              <a:buChar char="•"/>
            </a:pPr>
            <a:r>
              <a:rPr lang="en-US" sz="2027" i="true">
                <a:solidFill>
                  <a:srgbClr val="444CA8"/>
                </a:solidFill>
                <a:latin typeface="Poppins Italics"/>
                <a:ea typeface="Poppins Italics"/>
                <a:cs typeface="Poppins Italics"/>
                <a:sym typeface="Poppins Italics"/>
              </a:rPr>
              <a:t>Автоматичне створення записів че</a:t>
            </a:r>
            <a:r>
              <a:rPr lang="en-US" sz="2027" i="true">
                <a:solidFill>
                  <a:srgbClr val="444CA8"/>
                </a:solidFill>
                <a:latin typeface="Poppins Italics"/>
                <a:ea typeface="Poppins Italics"/>
                <a:cs typeface="Poppins Italics"/>
                <a:sym typeface="Poppins Italics"/>
              </a:rPr>
              <a:t>ре</a:t>
            </a:r>
            <a:r>
              <a:rPr lang="en-US" sz="2027" i="true">
                <a:solidFill>
                  <a:srgbClr val="444CA8"/>
                </a:solidFill>
                <a:latin typeface="Poppins Italics"/>
                <a:ea typeface="Poppins Italics"/>
                <a:cs typeface="Poppins Italics"/>
                <a:sym typeface="Poppins Italics"/>
              </a:rPr>
              <a:t>з push-сповіщення банку</a:t>
            </a:r>
          </a:p>
        </p:txBody>
      </p:sp>
      <p:sp>
        <p:nvSpPr>
          <p:cNvPr name="Freeform 8" id="8"/>
          <p:cNvSpPr/>
          <p:nvPr/>
        </p:nvSpPr>
        <p:spPr>
          <a:xfrm flipH="true" flipV="false" rot="0">
            <a:off x="7489874" y="1761913"/>
            <a:ext cx="2139052" cy="5233156"/>
          </a:xfrm>
          <a:custGeom>
            <a:avLst/>
            <a:gdLst/>
            <a:ahLst/>
            <a:cxnLst/>
            <a:rect r="r" b="b" t="t" l="l"/>
            <a:pathLst>
              <a:path h="5233156" w="2139052">
                <a:moveTo>
                  <a:pt x="2139053" y="0"/>
                </a:moveTo>
                <a:lnTo>
                  <a:pt x="0" y="0"/>
                </a:lnTo>
                <a:lnTo>
                  <a:pt x="0" y="5233156"/>
                </a:lnTo>
                <a:lnTo>
                  <a:pt x="2139053" y="5233156"/>
                </a:lnTo>
                <a:lnTo>
                  <a:pt x="21390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982992" y="210434"/>
            <a:ext cx="637391" cy="817167"/>
          </a:xfrm>
          <a:custGeom>
            <a:avLst/>
            <a:gdLst/>
            <a:ahLst/>
            <a:cxnLst/>
            <a:rect r="r" b="b" t="t" l="l"/>
            <a:pathLst>
              <a:path h="817167" w="637391">
                <a:moveTo>
                  <a:pt x="0" y="0"/>
                </a:moveTo>
                <a:lnTo>
                  <a:pt x="637390" y="0"/>
                </a:lnTo>
                <a:lnTo>
                  <a:pt x="637390" y="817168"/>
                </a:lnTo>
                <a:lnTo>
                  <a:pt x="0" y="8171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0105925">
            <a:off x="2932498" y="6338441"/>
            <a:ext cx="804658" cy="696395"/>
          </a:xfrm>
          <a:custGeom>
            <a:avLst/>
            <a:gdLst/>
            <a:ahLst/>
            <a:cxnLst/>
            <a:rect r="r" b="b" t="t" l="l"/>
            <a:pathLst>
              <a:path h="696395" w="804658">
                <a:moveTo>
                  <a:pt x="0" y="0"/>
                </a:moveTo>
                <a:lnTo>
                  <a:pt x="804659" y="0"/>
                </a:lnTo>
                <a:lnTo>
                  <a:pt x="804659" y="696395"/>
                </a:lnTo>
                <a:lnTo>
                  <a:pt x="0" y="6963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a:grpSpLocks noChangeAspect="true"/>
          </p:cNvGrpSpPr>
          <p:nvPr/>
        </p:nvGrpSpPr>
        <p:grpSpPr>
          <a:xfrm rot="0">
            <a:off x="7878083" y="-362425"/>
            <a:ext cx="724849" cy="724849"/>
            <a:chOff x="0" y="0"/>
            <a:chExt cx="1708150" cy="1708150"/>
          </a:xfrm>
        </p:grpSpPr>
        <p:sp>
          <p:nvSpPr>
            <p:cNvPr name="Freeform 12" id="12"/>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D9C3C"/>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4444" y="448754"/>
            <a:ext cx="1073720" cy="1793269"/>
          </a:xfrm>
          <a:custGeom>
            <a:avLst/>
            <a:gdLst/>
            <a:ahLst/>
            <a:cxnLst/>
            <a:rect r="r" b="b" t="t" l="l"/>
            <a:pathLst>
              <a:path h="1793269" w="1073720">
                <a:moveTo>
                  <a:pt x="0" y="0"/>
                </a:moveTo>
                <a:lnTo>
                  <a:pt x="1073720" y="0"/>
                </a:lnTo>
                <a:lnTo>
                  <a:pt x="1073720" y="1793269"/>
                </a:lnTo>
                <a:lnTo>
                  <a:pt x="0" y="17932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337949" y="731520"/>
            <a:ext cx="7339729" cy="4548964"/>
            <a:chOff x="0" y="0"/>
            <a:chExt cx="2180453" cy="1351385"/>
          </a:xfrm>
        </p:grpSpPr>
        <p:sp>
          <p:nvSpPr>
            <p:cNvPr name="Freeform 5" id="5"/>
            <p:cNvSpPr/>
            <p:nvPr/>
          </p:nvSpPr>
          <p:spPr>
            <a:xfrm flipH="false" flipV="false" rot="0">
              <a:off x="0" y="0"/>
              <a:ext cx="2180453" cy="1351385"/>
            </a:xfrm>
            <a:custGeom>
              <a:avLst/>
              <a:gdLst/>
              <a:ahLst/>
              <a:cxnLst/>
              <a:rect r="r" b="b" t="t" l="l"/>
              <a:pathLst>
                <a:path h="1351385" w="2180453">
                  <a:moveTo>
                    <a:pt x="37973" y="0"/>
                  </a:moveTo>
                  <a:lnTo>
                    <a:pt x="2142480" y="0"/>
                  </a:lnTo>
                  <a:cubicBezTo>
                    <a:pt x="2152551" y="0"/>
                    <a:pt x="2162209" y="4001"/>
                    <a:pt x="2169331" y="11122"/>
                  </a:cubicBezTo>
                  <a:cubicBezTo>
                    <a:pt x="2176452" y="18243"/>
                    <a:pt x="2180453" y="27902"/>
                    <a:pt x="2180453" y="37973"/>
                  </a:cubicBezTo>
                  <a:lnTo>
                    <a:pt x="2180453" y="1313412"/>
                  </a:lnTo>
                  <a:cubicBezTo>
                    <a:pt x="2180453" y="1323483"/>
                    <a:pt x="2176452" y="1333142"/>
                    <a:pt x="2169331" y="1340263"/>
                  </a:cubicBezTo>
                  <a:cubicBezTo>
                    <a:pt x="2162209" y="1347384"/>
                    <a:pt x="2152551" y="1351385"/>
                    <a:pt x="2142480" y="1351385"/>
                  </a:cubicBezTo>
                  <a:lnTo>
                    <a:pt x="37973" y="1351385"/>
                  </a:lnTo>
                  <a:cubicBezTo>
                    <a:pt x="27902" y="1351385"/>
                    <a:pt x="18243" y="1347384"/>
                    <a:pt x="11122" y="1340263"/>
                  </a:cubicBezTo>
                  <a:cubicBezTo>
                    <a:pt x="4001" y="1333142"/>
                    <a:pt x="0" y="1323483"/>
                    <a:pt x="0" y="1313412"/>
                  </a:cubicBezTo>
                  <a:lnTo>
                    <a:pt x="0" y="37973"/>
                  </a:lnTo>
                  <a:cubicBezTo>
                    <a:pt x="0" y="27902"/>
                    <a:pt x="4001" y="18243"/>
                    <a:pt x="11122" y="11122"/>
                  </a:cubicBezTo>
                  <a:cubicBezTo>
                    <a:pt x="18243" y="4001"/>
                    <a:pt x="27902" y="0"/>
                    <a:pt x="37973" y="0"/>
                  </a:cubicBezTo>
                  <a:close/>
                </a:path>
              </a:pathLst>
            </a:custGeom>
            <a:solidFill>
              <a:srgbClr val="FF66C4"/>
            </a:solidFill>
          </p:spPr>
        </p:sp>
        <p:sp>
          <p:nvSpPr>
            <p:cNvPr name="TextBox 6" id="6"/>
            <p:cNvSpPr txBox="true"/>
            <p:nvPr/>
          </p:nvSpPr>
          <p:spPr>
            <a:xfrm>
              <a:off x="0" y="-19050"/>
              <a:ext cx="2180453" cy="1370435"/>
            </a:xfrm>
            <a:prstGeom prst="rect">
              <a:avLst/>
            </a:prstGeom>
          </p:spPr>
          <p:txBody>
            <a:bodyPr anchor="ctr" rtlCol="false" tIns="50800" lIns="50800" bIns="50800" rIns="50800"/>
            <a:lstStyle/>
            <a:p>
              <a:pPr algn="ctr">
                <a:lnSpc>
                  <a:spcPts val="2160"/>
                </a:lnSpc>
              </a:pPr>
            </a:p>
          </p:txBody>
        </p:sp>
      </p:grpSp>
      <p:sp>
        <p:nvSpPr>
          <p:cNvPr name="TextBox 7" id="7"/>
          <p:cNvSpPr txBox="true"/>
          <p:nvPr/>
        </p:nvSpPr>
        <p:spPr>
          <a:xfrm rot="0">
            <a:off x="2419977" y="1570954"/>
            <a:ext cx="5813063" cy="3266277"/>
          </a:xfrm>
          <a:prstGeom prst="rect">
            <a:avLst/>
          </a:prstGeom>
        </p:spPr>
        <p:txBody>
          <a:bodyPr anchor="t" rtlCol="false" tIns="0" lIns="0" bIns="0" rIns="0">
            <a:spAutoFit/>
          </a:bodyPr>
          <a:lstStyle/>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Графік витрат з фільтрами</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Кругова діаграма за тегами</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Фільтрація за:</a:t>
            </a:r>
          </a:p>
          <a:p>
            <a:pPr algn="l" marL="875486" indent="-291829" lvl="2">
              <a:lnSpc>
                <a:spcPts val="3264"/>
              </a:lnSpc>
              <a:buFont typeface="Arial"/>
              <a:buChar char="⚬"/>
            </a:pPr>
            <a:r>
              <a:rPr lang="en-US" sz="2027" i="true">
                <a:solidFill>
                  <a:srgbClr val="FFFFFF"/>
                </a:solidFill>
                <a:latin typeface="Poppins Italics"/>
                <a:ea typeface="Poppins Italics"/>
                <a:cs typeface="Poppins Italics"/>
                <a:sym typeface="Poppins Italics"/>
              </a:rPr>
              <a:t>користувачем</a:t>
            </a:r>
          </a:p>
          <a:p>
            <a:pPr algn="l" marL="875486" indent="-291829" lvl="2">
              <a:lnSpc>
                <a:spcPts val="3264"/>
              </a:lnSpc>
              <a:buFont typeface="Arial"/>
              <a:buChar char="⚬"/>
            </a:pPr>
            <a:r>
              <a:rPr lang="en-US" sz="2027" i="true">
                <a:solidFill>
                  <a:srgbClr val="FFFFFF"/>
                </a:solidFill>
                <a:latin typeface="Poppins Italics"/>
                <a:ea typeface="Poppins Italics"/>
                <a:cs typeface="Poppins Italics"/>
                <a:sym typeface="Poppins Italics"/>
              </a:rPr>
              <a:t>рахунком</a:t>
            </a:r>
          </a:p>
          <a:p>
            <a:pPr algn="l" marL="875486" indent="-291829" lvl="2">
              <a:lnSpc>
                <a:spcPts val="3264"/>
              </a:lnSpc>
              <a:buFont typeface="Arial"/>
              <a:buChar char="⚬"/>
            </a:pPr>
            <a:r>
              <a:rPr lang="en-US" sz="2027" i="true">
                <a:solidFill>
                  <a:srgbClr val="FFFFFF"/>
                </a:solidFill>
                <a:latin typeface="Poppins Italics"/>
                <a:ea typeface="Poppins Italics"/>
                <a:cs typeface="Poppins Italics"/>
                <a:sym typeface="Poppins Italics"/>
              </a:rPr>
              <a:t>датою</a:t>
            </a:r>
          </a:p>
          <a:p>
            <a:pPr algn="l" marL="875486" indent="-291829" lvl="2">
              <a:lnSpc>
                <a:spcPts val="3264"/>
              </a:lnSpc>
              <a:buFont typeface="Arial"/>
              <a:buChar char="⚬"/>
            </a:pPr>
            <a:r>
              <a:rPr lang="en-US" sz="2027" i="true">
                <a:solidFill>
                  <a:srgbClr val="FFFFFF"/>
                </a:solidFill>
                <a:latin typeface="Poppins Italics"/>
                <a:ea typeface="Poppins Italics"/>
                <a:cs typeface="Poppins Italics"/>
                <a:sym typeface="Poppins Italics"/>
              </a:rPr>
              <a:t>т</a:t>
            </a:r>
            <a:r>
              <a:rPr lang="en-US" sz="2027" i="true">
                <a:solidFill>
                  <a:srgbClr val="FFFFFF"/>
                </a:solidFill>
                <a:latin typeface="Poppins Italics"/>
                <a:ea typeface="Poppins Italics"/>
                <a:cs typeface="Poppins Italics"/>
                <a:sym typeface="Poppins Italics"/>
              </a:rPr>
              <a:t>егом</a:t>
            </a:r>
          </a:p>
          <a:p>
            <a:pPr algn="l" marL="437743" indent="-218872" lvl="1">
              <a:lnSpc>
                <a:spcPts val="3264"/>
              </a:lnSpc>
              <a:buFont typeface="Arial"/>
              <a:buChar char="•"/>
            </a:pPr>
            <a:r>
              <a:rPr lang="en-US" sz="2027" i="true">
                <a:solidFill>
                  <a:srgbClr val="FFFFFF"/>
                </a:solidFill>
                <a:latin typeface="Poppins Italics"/>
                <a:ea typeface="Poppins Italics"/>
                <a:cs typeface="Poppins Italics"/>
                <a:sym typeface="Poppins Italics"/>
              </a:rPr>
              <a:t>Від</a:t>
            </a:r>
            <a:r>
              <a:rPr lang="en-US" sz="2027" i="true">
                <a:solidFill>
                  <a:srgbClr val="FFFFFF"/>
                </a:solidFill>
                <a:latin typeface="Poppins Italics"/>
                <a:ea typeface="Poppins Italics"/>
                <a:cs typeface="Poppins Italics"/>
                <a:sym typeface="Poppins Italics"/>
              </a:rPr>
              <a:t>ображення витрат у годинах </a:t>
            </a:r>
            <a:r>
              <a:rPr lang="en-US" sz="2027" i="true">
                <a:solidFill>
                  <a:srgbClr val="FFFFFF"/>
                </a:solidFill>
                <a:latin typeface="Poppins Italics"/>
                <a:ea typeface="Poppins Italics"/>
                <a:cs typeface="Poppins Italics"/>
                <a:sym typeface="Poppins Italics"/>
              </a:rPr>
              <a:t>р</a:t>
            </a:r>
            <a:r>
              <a:rPr lang="en-US" sz="2027" i="true">
                <a:solidFill>
                  <a:srgbClr val="FFFFFF"/>
                </a:solidFill>
                <a:latin typeface="Poppins Italics"/>
                <a:ea typeface="Poppins Italics"/>
                <a:cs typeface="Poppins Italics"/>
                <a:sym typeface="Poppins Italics"/>
              </a:rPr>
              <a:t>оботи</a:t>
            </a:r>
          </a:p>
        </p:txBody>
      </p:sp>
      <p:sp>
        <p:nvSpPr>
          <p:cNvPr name="Freeform 8" id="8"/>
          <p:cNvSpPr/>
          <p:nvPr/>
        </p:nvSpPr>
        <p:spPr>
          <a:xfrm flipH="false" flipV="false" rot="0">
            <a:off x="77810" y="4875145"/>
            <a:ext cx="3711111" cy="2440055"/>
          </a:xfrm>
          <a:custGeom>
            <a:avLst/>
            <a:gdLst/>
            <a:ahLst/>
            <a:cxnLst/>
            <a:rect r="r" b="b" t="t" l="l"/>
            <a:pathLst>
              <a:path h="2440055" w="3711111">
                <a:moveTo>
                  <a:pt x="0" y="0"/>
                </a:moveTo>
                <a:lnTo>
                  <a:pt x="3711111" y="0"/>
                </a:lnTo>
                <a:lnTo>
                  <a:pt x="3711111" y="2440055"/>
                </a:lnTo>
                <a:lnTo>
                  <a:pt x="0" y="24400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101282" y="922906"/>
            <a:ext cx="5864953"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Аналiтика</a:t>
            </a:r>
          </a:p>
        </p:txBody>
      </p:sp>
      <p:grpSp>
        <p:nvGrpSpPr>
          <p:cNvPr name="Group 10" id="10"/>
          <p:cNvGrpSpPr>
            <a:grpSpLocks noChangeAspect="true"/>
          </p:cNvGrpSpPr>
          <p:nvPr/>
        </p:nvGrpSpPr>
        <p:grpSpPr>
          <a:xfrm rot="0">
            <a:off x="9169641" y="6095172"/>
            <a:ext cx="724849" cy="724849"/>
            <a:chOff x="0" y="0"/>
            <a:chExt cx="1708150" cy="1708150"/>
          </a:xfrm>
        </p:grpSpPr>
        <p:sp>
          <p:nvSpPr>
            <p:cNvPr name="Freeform 11" id="11"/>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ABA43"/>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2568" y="1467177"/>
            <a:ext cx="2929898" cy="1082633"/>
            <a:chOff x="0" y="0"/>
            <a:chExt cx="1085147" cy="400975"/>
          </a:xfrm>
        </p:grpSpPr>
        <p:sp>
          <p:nvSpPr>
            <p:cNvPr name="Freeform 4" id="4"/>
            <p:cNvSpPr/>
            <p:nvPr/>
          </p:nvSpPr>
          <p:spPr>
            <a:xfrm flipH="false" flipV="false" rot="0">
              <a:off x="0" y="0"/>
              <a:ext cx="1085147" cy="400975"/>
            </a:xfrm>
            <a:custGeom>
              <a:avLst/>
              <a:gdLst/>
              <a:ahLst/>
              <a:cxnLst/>
              <a:rect r="r" b="b" t="t" l="l"/>
              <a:pathLst>
                <a:path h="400975" w="1085147">
                  <a:moveTo>
                    <a:pt x="95126" y="0"/>
                  </a:moveTo>
                  <a:lnTo>
                    <a:pt x="990021" y="0"/>
                  </a:lnTo>
                  <a:cubicBezTo>
                    <a:pt x="1042558" y="0"/>
                    <a:pt x="1085147" y="42589"/>
                    <a:pt x="1085147" y="95126"/>
                  </a:cubicBezTo>
                  <a:lnTo>
                    <a:pt x="1085147" y="305849"/>
                  </a:lnTo>
                  <a:cubicBezTo>
                    <a:pt x="1085147" y="358386"/>
                    <a:pt x="1042558" y="400975"/>
                    <a:pt x="990021" y="400975"/>
                  </a:cubicBezTo>
                  <a:lnTo>
                    <a:pt x="95126" y="400975"/>
                  </a:lnTo>
                  <a:cubicBezTo>
                    <a:pt x="69897" y="400975"/>
                    <a:pt x="45701" y="390953"/>
                    <a:pt x="27862" y="373114"/>
                  </a:cubicBezTo>
                  <a:cubicBezTo>
                    <a:pt x="10022" y="355274"/>
                    <a:pt x="0" y="331078"/>
                    <a:pt x="0" y="305849"/>
                  </a:cubicBezTo>
                  <a:lnTo>
                    <a:pt x="0" y="95126"/>
                  </a:lnTo>
                  <a:cubicBezTo>
                    <a:pt x="0" y="42589"/>
                    <a:pt x="42589" y="0"/>
                    <a:pt x="95126" y="0"/>
                  </a:cubicBezTo>
                  <a:close/>
                </a:path>
              </a:pathLst>
            </a:custGeom>
            <a:solidFill>
              <a:srgbClr val="FABA43"/>
            </a:solidFill>
          </p:spPr>
        </p:sp>
        <p:sp>
          <p:nvSpPr>
            <p:cNvPr name="TextBox 5" id="5"/>
            <p:cNvSpPr txBox="true"/>
            <p:nvPr/>
          </p:nvSpPr>
          <p:spPr>
            <a:xfrm>
              <a:off x="0" y="-19050"/>
              <a:ext cx="1085147" cy="420025"/>
            </a:xfrm>
            <a:prstGeom prst="rect">
              <a:avLst/>
            </a:prstGeom>
          </p:spPr>
          <p:txBody>
            <a:bodyPr anchor="ctr" rtlCol="false" tIns="50800" lIns="50800" bIns="50800" rIns="50800"/>
            <a:lstStyle/>
            <a:p>
              <a:pPr algn="ctr">
                <a:lnSpc>
                  <a:spcPts val="2160"/>
                </a:lnSpc>
              </a:pPr>
            </a:p>
          </p:txBody>
        </p:sp>
      </p:grpSp>
      <p:sp>
        <p:nvSpPr>
          <p:cNvPr name="TextBox 6" id="6"/>
          <p:cNvSpPr txBox="true"/>
          <p:nvPr/>
        </p:nvSpPr>
        <p:spPr>
          <a:xfrm rot="0">
            <a:off x="1257129" y="362741"/>
            <a:ext cx="7239342" cy="689933"/>
          </a:xfrm>
          <a:prstGeom prst="rect">
            <a:avLst/>
          </a:prstGeom>
        </p:spPr>
        <p:txBody>
          <a:bodyPr anchor="t" rtlCol="false" tIns="0" lIns="0" bIns="0" rIns="0">
            <a:spAutoFit/>
          </a:bodyPr>
          <a:lstStyle/>
          <a:p>
            <a:pPr algn="ctr">
              <a:lnSpc>
                <a:spcPts val="5137"/>
              </a:lnSpc>
              <a:spcBef>
                <a:spcPct val="0"/>
              </a:spcBef>
            </a:pPr>
            <a:r>
              <a:rPr lang="en-US" b="true" sz="4281">
                <a:solidFill>
                  <a:srgbClr val="444CA8"/>
                </a:solidFill>
                <a:latin typeface="Poppins Bold"/>
                <a:ea typeface="Poppins Bold"/>
                <a:cs typeface="Poppins Bold"/>
                <a:sym typeface="Poppins Bold"/>
              </a:rPr>
              <a:t>Нефункцiональнi вимоги</a:t>
            </a:r>
          </a:p>
        </p:txBody>
      </p:sp>
      <p:sp>
        <p:nvSpPr>
          <p:cNvPr name="TextBox 7" id="7"/>
          <p:cNvSpPr txBox="true"/>
          <p:nvPr/>
        </p:nvSpPr>
        <p:spPr>
          <a:xfrm rot="0">
            <a:off x="822568" y="1609343"/>
            <a:ext cx="2932476"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Платформа</a:t>
            </a:r>
          </a:p>
        </p:txBody>
      </p:sp>
      <p:sp>
        <p:nvSpPr>
          <p:cNvPr name="TextBox 8" id="8"/>
          <p:cNvSpPr txBox="true"/>
          <p:nvPr/>
        </p:nvSpPr>
        <p:spPr>
          <a:xfrm rot="0">
            <a:off x="822568" y="2058055"/>
            <a:ext cx="2932476" cy="289875"/>
          </a:xfrm>
          <a:prstGeom prst="rect">
            <a:avLst/>
          </a:prstGeom>
        </p:spPr>
        <p:txBody>
          <a:bodyPr anchor="t" rtlCol="false" tIns="0" lIns="0" bIns="0" rIns="0">
            <a:spAutoFit/>
          </a:bodyPr>
          <a:lstStyle/>
          <a:p>
            <a:pPr algn="ctr">
              <a:lnSpc>
                <a:spcPts val="2250"/>
              </a:lnSpc>
            </a:pPr>
            <a:r>
              <a:rPr lang="en-US" sz="2027" i="true" spc="115">
                <a:solidFill>
                  <a:srgbClr val="FFFFFF"/>
                </a:solidFill>
                <a:latin typeface="Glacial Indifference Italics"/>
                <a:ea typeface="Glacial Indifference Italics"/>
                <a:cs typeface="Glacial Indifference Italics"/>
                <a:sym typeface="Glacial Indifference Italics"/>
              </a:rPr>
              <a:t>Android</a:t>
            </a:r>
          </a:p>
        </p:txBody>
      </p:sp>
      <p:grpSp>
        <p:nvGrpSpPr>
          <p:cNvPr name="Group 9" id="9"/>
          <p:cNvGrpSpPr/>
          <p:nvPr/>
        </p:nvGrpSpPr>
        <p:grpSpPr>
          <a:xfrm rot="0">
            <a:off x="4324952" y="1387077"/>
            <a:ext cx="5249952" cy="2545818"/>
            <a:chOff x="0" y="0"/>
            <a:chExt cx="1944427" cy="942895"/>
          </a:xfrm>
        </p:grpSpPr>
        <p:sp>
          <p:nvSpPr>
            <p:cNvPr name="Freeform 10" id="10"/>
            <p:cNvSpPr/>
            <p:nvPr/>
          </p:nvSpPr>
          <p:spPr>
            <a:xfrm flipH="false" flipV="false" rot="0">
              <a:off x="0" y="0"/>
              <a:ext cx="1944427" cy="942895"/>
            </a:xfrm>
            <a:custGeom>
              <a:avLst/>
              <a:gdLst/>
              <a:ahLst/>
              <a:cxnLst/>
              <a:rect r="r" b="b" t="t" l="l"/>
              <a:pathLst>
                <a:path h="942895" w="1944427">
                  <a:moveTo>
                    <a:pt x="53088" y="0"/>
                  </a:moveTo>
                  <a:lnTo>
                    <a:pt x="1891339" y="0"/>
                  </a:lnTo>
                  <a:cubicBezTo>
                    <a:pt x="1920658" y="0"/>
                    <a:pt x="1944427" y="23768"/>
                    <a:pt x="1944427" y="53088"/>
                  </a:cubicBezTo>
                  <a:lnTo>
                    <a:pt x="1944427" y="889807"/>
                  </a:lnTo>
                  <a:cubicBezTo>
                    <a:pt x="1944427" y="919127"/>
                    <a:pt x="1920658" y="942895"/>
                    <a:pt x="1891339" y="942895"/>
                  </a:cubicBezTo>
                  <a:lnTo>
                    <a:pt x="53088" y="942895"/>
                  </a:lnTo>
                  <a:cubicBezTo>
                    <a:pt x="23768" y="942895"/>
                    <a:pt x="0" y="919127"/>
                    <a:pt x="0" y="889807"/>
                  </a:cubicBezTo>
                  <a:lnTo>
                    <a:pt x="0" y="53088"/>
                  </a:lnTo>
                  <a:cubicBezTo>
                    <a:pt x="0" y="23768"/>
                    <a:pt x="23768" y="0"/>
                    <a:pt x="53088" y="0"/>
                  </a:cubicBezTo>
                  <a:close/>
                </a:path>
              </a:pathLst>
            </a:custGeom>
            <a:solidFill>
              <a:srgbClr val="F14930"/>
            </a:solidFill>
          </p:spPr>
        </p:sp>
        <p:sp>
          <p:nvSpPr>
            <p:cNvPr name="TextBox 11" id="11"/>
            <p:cNvSpPr txBox="true"/>
            <p:nvPr/>
          </p:nvSpPr>
          <p:spPr>
            <a:xfrm>
              <a:off x="0" y="-19050"/>
              <a:ext cx="1944427" cy="961945"/>
            </a:xfrm>
            <a:prstGeom prst="rect">
              <a:avLst/>
            </a:prstGeom>
          </p:spPr>
          <p:txBody>
            <a:bodyPr anchor="ctr" rtlCol="false" tIns="50800" lIns="50800" bIns="50800" rIns="50800"/>
            <a:lstStyle/>
            <a:p>
              <a:pPr algn="ctr">
                <a:lnSpc>
                  <a:spcPts val="2160"/>
                </a:lnSpc>
              </a:pPr>
            </a:p>
          </p:txBody>
        </p:sp>
      </p:grpSp>
      <p:sp>
        <p:nvSpPr>
          <p:cNvPr name="TextBox 12" id="12"/>
          <p:cNvSpPr txBox="true"/>
          <p:nvPr/>
        </p:nvSpPr>
        <p:spPr>
          <a:xfrm rot="0">
            <a:off x="4324952" y="1639854"/>
            <a:ext cx="5249952"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Архiтектура та технологiї</a:t>
            </a:r>
          </a:p>
        </p:txBody>
      </p:sp>
      <p:sp>
        <p:nvSpPr>
          <p:cNvPr name="TextBox 13" id="13"/>
          <p:cNvSpPr txBox="true"/>
          <p:nvPr/>
        </p:nvSpPr>
        <p:spPr>
          <a:xfrm rot="0">
            <a:off x="4806003" y="2116104"/>
            <a:ext cx="3915085" cy="1543050"/>
          </a:xfrm>
          <a:prstGeom prst="rect">
            <a:avLst/>
          </a:prstGeom>
        </p:spPr>
        <p:txBody>
          <a:bodyPr anchor="t" rtlCol="false" tIns="0" lIns="0" bIns="0" rIns="0">
            <a:spAutoFit/>
          </a:bodyPr>
          <a:lstStyle/>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MVVM архітектура</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REST API</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HTTPS-з’єднання</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Локальне кешування даних</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Обробка push-сповіщень</a:t>
            </a:r>
          </a:p>
        </p:txBody>
      </p:sp>
      <p:grpSp>
        <p:nvGrpSpPr>
          <p:cNvPr name="Group 14" id="14"/>
          <p:cNvGrpSpPr/>
          <p:nvPr/>
        </p:nvGrpSpPr>
        <p:grpSpPr>
          <a:xfrm rot="0">
            <a:off x="125062" y="2659986"/>
            <a:ext cx="4739582" cy="2262250"/>
            <a:chOff x="0" y="0"/>
            <a:chExt cx="1755401" cy="837870"/>
          </a:xfrm>
        </p:grpSpPr>
        <p:sp>
          <p:nvSpPr>
            <p:cNvPr name="Freeform 15" id="15"/>
            <p:cNvSpPr/>
            <p:nvPr/>
          </p:nvSpPr>
          <p:spPr>
            <a:xfrm flipH="false" flipV="false" rot="0">
              <a:off x="0" y="0"/>
              <a:ext cx="1755401" cy="837870"/>
            </a:xfrm>
            <a:custGeom>
              <a:avLst/>
              <a:gdLst/>
              <a:ahLst/>
              <a:cxnLst/>
              <a:rect r="r" b="b" t="t" l="l"/>
              <a:pathLst>
                <a:path h="837870" w="1755401">
                  <a:moveTo>
                    <a:pt x="58805" y="0"/>
                  </a:moveTo>
                  <a:lnTo>
                    <a:pt x="1696596" y="0"/>
                  </a:lnTo>
                  <a:cubicBezTo>
                    <a:pt x="1729073" y="0"/>
                    <a:pt x="1755401" y="26328"/>
                    <a:pt x="1755401" y="58805"/>
                  </a:cubicBezTo>
                  <a:lnTo>
                    <a:pt x="1755401" y="779066"/>
                  </a:lnTo>
                  <a:cubicBezTo>
                    <a:pt x="1755401" y="811543"/>
                    <a:pt x="1729073" y="837870"/>
                    <a:pt x="1696596" y="837870"/>
                  </a:cubicBezTo>
                  <a:lnTo>
                    <a:pt x="58805" y="837870"/>
                  </a:lnTo>
                  <a:cubicBezTo>
                    <a:pt x="26328" y="837870"/>
                    <a:pt x="0" y="811543"/>
                    <a:pt x="0" y="779066"/>
                  </a:cubicBezTo>
                  <a:lnTo>
                    <a:pt x="0" y="58805"/>
                  </a:lnTo>
                  <a:cubicBezTo>
                    <a:pt x="0" y="26328"/>
                    <a:pt x="26328" y="0"/>
                    <a:pt x="58805" y="0"/>
                  </a:cubicBezTo>
                  <a:close/>
                </a:path>
              </a:pathLst>
            </a:custGeom>
            <a:solidFill>
              <a:srgbClr val="1FBCBF"/>
            </a:solidFill>
          </p:spPr>
        </p:sp>
        <p:sp>
          <p:nvSpPr>
            <p:cNvPr name="TextBox 16" id="16"/>
            <p:cNvSpPr txBox="true"/>
            <p:nvPr/>
          </p:nvSpPr>
          <p:spPr>
            <a:xfrm>
              <a:off x="0" y="-19050"/>
              <a:ext cx="1755401" cy="856920"/>
            </a:xfrm>
            <a:prstGeom prst="rect">
              <a:avLst/>
            </a:prstGeom>
          </p:spPr>
          <p:txBody>
            <a:bodyPr anchor="ctr" rtlCol="false" tIns="50800" lIns="50800" bIns="50800" rIns="50800"/>
            <a:lstStyle/>
            <a:p>
              <a:pPr algn="ctr">
                <a:lnSpc>
                  <a:spcPts val="2160"/>
                </a:lnSpc>
              </a:pPr>
            </a:p>
          </p:txBody>
        </p:sp>
      </p:grpSp>
      <p:sp>
        <p:nvSpPr>
          <p:cNvPr name="TextBox 17" id="17"/>
          <p:cNvSpPr txBox="true"/>
          <p:nvPr/>
        </p:nvSpPr>
        <p:spPr>
          <a:xfrm rot="0">
            <a:off x="-130123" y="2888586"/>
            <a:ext cx="5249952"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 Продуктивнiсть</a:t>
            </a:r>
          </a:p>
        </p:txBody>
      </p:sp>
      <p:sp>
        <p:nvSpPr>
          <p:cNvPr name="TextBox 18" id="18"/>
          <p:cNvSpPr txBox="true"/>
          <p:nvPr/>
        </p:nvSpPr>
        <p:spPr>
          <a:xfrm rot="0">
            <a:off x="499211" y="3398538"/>
            <a:ext cx="3915085" cy="1238250"/>
          </a:xfrm>
          <a:prstGeom prst="rect">
            <a:avLst/>
          </a:prstGeom>
        </p:spPr>
        <p:txBody>
          <a:bodyPr anchor="t" rtlCol="false" tIns="0" lIns="0" bIns="0" rIns="0">
            <a:spAutoFit/>
          </a:bodyPr>
          <a:lstStyle/>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Плавний рендеринг графіків</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Обробка 1000+ транзакцій без затримок</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Миттєвий пошук</a:t>
            </a:r>
          </a:p>
        </p:txBody>
      </p:sp>
      <p:grpSp>
        <p:nvGrpSpPr>
          <p:cNvPr name="Group 19" id="19"/>
          <p:cNvGrpSpPr/>
          <p:nvPr/>
        </p:nvGrpSpPr>
        <p:grpSpPr>
          <a:xfrm rot="0">
            <a:off x="4138570" y="4227427"/>
            <a:ext cx="5249952" cy="2545818"/>
            <a:chOff x="0" y="0"/>
            <a:chExt cx="1944427" cy="942895"/>
          </a:xfrm>
        </p:grpSpPr>
        <p:sp>
          <p:nvSpPr>
            <p:cNvPr name="Freeform 20" id="20"/>
            <p:cNvSpPr/>
            <p:nvPr/>
          </p:nvSpPr>
          <p:spPr>
            <a:xfrm flipH="false" flipV="false" rot="0">
              <a:off x="0" y="0"/>
              <a:ext cx="1944427" cy="942895"/>
            </a:xfrm>
            <a:custGeom>
              <a:avLst/>
              <a:gdLst/>
              <a:ahLst/>
              <a:cxnLst/>
              <a:rect r="r" b="b" t="t" l="l"/>
              <a:pathLst>
                <a:path h="942895" w="1944427">
                  <a:moveTo>
                    <a:pt x="53088" y="0"/>
                  </a:moveTo>
                  <a:lnTo>
                    <a:pt x="1891339" y="0"/>
                  </a:lnTo>
                  <a:cubicBezTo>
                    <a:pt x="1920658" y="0"/>
                    <a:pt x="1944427" y="23768"/>
                    <a:pt x="1944427" y="53088"/>
                  </a:cubicBezTo>
                  <a:lnTo>
                    <a:pt x="1944427" y="889807"/>
                  </a:lnTo>
                  <a:cubicBezTo>
                    <a:pt x="1944427" y="919127"/>
                    <a:pt x="1920658" y="942895"/>
                    <a:pt x="1891339" y="942895"/>
                  </a:cubicBezTo>
                  <a:lnTo>
                    <a:pt x="53088" y="942895"/>
                  </a:lnTo>
                  <a:cubicBezTo>
                    <a:pt x="23768" y="942895"/>
                    <a:pt x="0" y="919127"/>
                    <a:pt x="0" y="889807"/>
                  </a:cubicBezTo>
                  <a:lnTo>
                    <a:pt x="0" y="53088"/>
                  </a:lnTo>
                  <a:cubicBezTo>
                    <a:pt x="0" y="23768"/>
                    <a:pt x="23768" y="0"/>
                    <a:pt x="53088" y="0"/>
                  </a:cubicBezTo>
                  <a:close/>
                </a:path>
              </a:pathLst>
            </a:custGeom>
            <a:solidFill>
              <a:srgbClr val="6063B8"/>
            </a:solidFill>
          </p:spPr>
        </p:sp>
        <p:sp>
          <p:nvSpPr>
            <p:cNvPr name="TextBox 21" id="21"/>
            <p:cNvSpPr txBox="true"/>
            <p:nvPr/>
          </p:nvSpPr>
          <p:spPr>
            <a:xfrm>
              <a:off x="0" y="-19050"/>
              <a:ext cx="1944427" cy="961945"/>
            </a:xfrm>
            <a:prstGeom prst="rect">
              <a:avLst/>
            </a:prstGeom>
          </p:spPr>
          <p:txBody>
            <a:bodyPr anchor="ctr" rtlCol="false" tIns="50800" lIns="50800" bIns="50800" rIns="50800"/>
            <a:lstStyle/>
            <a:p>
              <a:pPr algn="ctr">
                <a:lnSpc>
                  <a:spcPts val="2160"/>
                </a:lnSpc>
              </a:pPr>
            </a:p>
          </p:txBody>
        </p:sp>
      </p:grpSp>
      <p:sp>
        <p:nvSpPr>
          <p:cNvPr name="TextBox 22" id="22"/>
          <p:cNvSpPr txBox="true"/>
          <p:nvPr/>
        </p:nvSpPr>
        <p:spPr>
          <a:xfrm rot="0">
            <a:off x="4138570" y="4480204"/>
            <a:ext cx="5249952" cy="390525"/>
          </a:xfrm>
          <a:prstGeom prst="rect">
            <a:avLst/>
          </a:prstGeom>
        </p:spPr>
        <p:txBody>
          <a:bodyPr anchor="t" rtlCol="false" tIns="0" lIns="0" bIns="0" rIns="0">
            <a:spAutoFit/>
          </a:bodyPr>
          <a:lstStyle/>
          <a:p>
            <a:pPr algn="ctr">
              <a:lnSpc>
                <a:spcPts val="2913"/>
              </a:lnSpc>
            </a:pPr>
            <a:r>
              <a:rPr lang="en-US" b="true" sz="2427" i="true">
                <a:solidFill>
                  <a:srgbClr val="FFFFFF"/>
                </a:solidFill>
                <a:latin typeface="Poppins Bold Italics"/>
                <a:ea typeface="Poppins Bold Italics"/>
                <a:cs typeface="Poppins Bold Italics"/>
                <a:sym typeface="Poppins Bold Italics"/>
              </a:rPr>
              <a:t>Безпека</a:t>
            </a:r>
          </a:p>
        </p:txBody>
      </p:sp>
      <p:sp>
        <p:nvSpPr>
          <p:cNvPr name="TextBox 23" id="23"/>
          <p:cNvSpPr txBox="true"/>
          <p:nvPr/>
        </p:nvSpPr>
        <p:spPr>
          <a:xfrm rot="0">
            <a:off x="4536797" y="5007961"/>
            <a:ext cx="4453497" cy="1543050"/>
          </a:xfrm>
          <a:prstGeom prst="rect">
            <a:avLst/>
          </a:prstGeom>
        </p:spPr>
        <p:txBody>
          <a:bodyPr anchor="t" rtlCol="false" tIns="0" lIns="0" bIns="0" rIns="0">
            <a:spAutoFit/>
          </a:bodyPr>
          <a:lstStyle/>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Захищене з'єднання (HTTPS)</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Запит дозволу на читання сповіщень із поясненням</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Розмежування ролей доступу</a:t>
            </a:r>
          </a:p>
          <a:p>
            <a:pPr algn="l" marL="437743" indent="-218872" lvl="1">
              <a:lnSpc>
                <a:spcPts val="2433"/>
              </a:lnSpc>
              <a:buFont typeface="Arial"/>
              <a:buChar char="•"/>
            </a:pPr>
            <a:r>
              <a:rPr lang="en-US" sz="2027" i="true">
                <a:solidFill>
                  <a:srgbClr val="FFFFFF"/>
                </a:solidFill>
                <a:latin typeface="Poppins Italics"/>
                <a:ea typeface="Poppins Italics"/>
                <a:cs typeface="Poppins Italics"/>
                <a:sym typeface="Poppins Italics"/>
              </a:rPr>
              <a:t>Безпечне зберігання паролів</a:t>
            </a:r>
          </a:p>
        </p:txBody>
      </p:sp>
      <p:sp>
        <p:nvSpPr>
          <p:cNvPr name="Freeform 24" id="24"/>
          <p:cNvSpPr/>
          <p:nvPr/>
        </p:nvSpPr>
        <p:spPr>
          <a:xfrm flipH="true" flipV="false" rot="0">
            <a:off x="0" y="4779663"/>
            <a:ext cx="3016577" cy="2926080"/>
          </a:xfrm>
          <a:custGeom>
            <a:avLst/>
            <a:gdLst/>
            <a:ahLst/>
            <a:cxnLst/>
            <a:rect r="r" b="b" t="t" l="l"/>
            <a:pathLst>
              <a:path h="2926080" w="3016577">
                <a:moveTo>
                  <a:pt x="3016577" y="0"/>
                </a:moveTo>
                <a:lnTo>
                  <a:pt x="0" y="0"/>
                </a:lnTo>
                <a:lnTo>
                  <a:pt x="0" y="2926080"/>
                </a:lnTo>
                <a:lnTo>
                  <a:pt x="3016577" y="2926080"/>
                </a:lnTo>
                <a:lnTo>
                  <a:pt x="301657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5E9"/>
        </a:solidFill>
      </p:bgPr>
    </p:bg>
    <p:spTree>
      <p:nvGrpSpPr>
        <p:cNvPr id="1" name=""/>
        <p:cNvGrpSpPr/>
        <p:nvPr/>
      </p:nvGrpSpPr>
      <p:grpSpPr>
        <a:xfrm>
          <a:off x="0" y="0"/>
          <a:ext cx="0" cy="0"/>
          <a:chOff x="0" y="0"/>
          <a:chExt cx="0" cy="0"/>
        </a:xfrm>
      </p:grpSpPr>
      <p:sp>
        <p:nvSpPr>
          <p:cNvPr name="Freeform 2" id="2"/>
          <p:cNvSpPr/>
          <p:nvPr/>
        </p:nvSpPr>
        <p:spPr>
          <a:xfrm flipH="false" flipV="false" rot="0">
            <a:off x="-491984" y="-1711184"/>
            <a:ext cx="10737568" cy="10737568"/>
          </a:xfrm>
          <a:custGeom>
            <a:avLst/>
            <a:gdLst/>
            <a:ahLst/>
            <a:cxnLst/>
            <a:rect r="r" b="b" t="t" l="l"/>
            <a:pathLst>
              <a:path h="10737568" w="10737568">
                <a:moveTo>
                  <a:pt x="0" y="0"/>
                </a:moveTo>
                <a:lnTo>
                  <a:pt x="10737568" y="0"/>
                </a:lnTo>
                <a:lnTo>
                  <a:pt x="10737568" y="10737568"/>
                </a:lnTo>
                <a:lnTo>
                  <a:pt x="0" y="10737568"/>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710390" y="3451991"/>
            <a:ext cx="3504847" cy="3512721"/>
            <a:chOff x="0" y="0"/>
            <a:chExt cx="4673130" cy="4683629"/>
          </a:xfrm>
        </p:grpSpPr>
        <p:grpSp>
          <p:nvGrpSpPr>
            <p:cNvPr name="Group 4" id="4"/>
            <p:cNvGrpSpPr/>
            <p:nvPr/>
          </p:nvGrpSpPr>
          <p:grpSpPr>
            <a:xfrm rot="0">
              <a:off x="0" y="0"/>
              <a:ext cx="4673130" cy="4683629"/>
              <a:chOff x="0" y="0"/>
              <a:chExt cx="1475109" cy="1478423"/>
            </a:xfrm>
          </p:grpSpPr>
          <p:sp>
            <p:nvSpPr>
              <p:cNvPr name="Freeform 5" id="5"/>
              <p:cNvSpPr/>
              <p:nvPr/>
            </p:nvSpPr>
            <p:spPr>
              <a:xfrm flipH="false" flipV="false" rot="0">
                <a:off x="0" y="0"/>
                <a:ext cx="1475109" cy="1478423"/>
              </a:xfrm>
              <a:custGeom>
                <a:avLst/>
                <a:gdLst/>
                <a:ahLst/>
                <a:cxnLst/>
                <a:rect r="r" b="b" t="t" l="l"/>
                <a:pathLst>
                  <a:path h="1478423" w="1475109">
                    <a:moveTo>
                      <a:pt x="38877" y="0"/>
                    </a:moveTo>
                    <a:lnTo>
                      <a:pt x="1436233" y="0"/>
                    </a:lnTo>
                    <a:cubicBezTo>
                      <a:pt x="1446543" y="0"/>
                      <a:pt x="1456432" y="4096"/>
                      <a:pt x="1463723" y="11387"/>
                    </a:cubicBezTo>
                    <a:cubicBezTo>
                      <a:pt x="1471013" y="18678"/>
                      <a:pt x="1475109" y="28566"/>
                      <a:pt x="1475109" y="38877"/>
                    </a:cubicBezTo>
                    <a:lnTo>
                      <a:pt x="1475109" y="1439547"/>
                    </a:lnTo>
                    <a:cubicBezTo>
                      <a:pt x="1475109" y="1449857"/>
                      <a:pt x="1471013" y="1459746"/>
                      <a:pt x="1463723" y="1467037"/>
                    </a:cubicBezTo>
                    <a:cubicBezTo>
                      <a:pt x="1456432" y="1474327"/>
                      <a:pt x="1446543" y="1478423"/>
                      <a:pt x="1436233" y="1478423"/>
                    </a:cubicBezTo>
                    <a:lnTo>
                      <a:pt x="38877" y="1478423"/>
                    </a:lnTo>
                    <a:cubicBezTo>
                      <a:pt x="28566" y="1478423"/>
                      <a:pt x="18678" y="1474327"/>
                      <a:pt x="11387" y="1467037"/>
                    </a:cubicBezTo>
                    <a:cubicBezTo>
                      <a:pt x="4096" y="1459746"/>
                      <a:pt x="0" y="1449857"/>
                      <a:pt x="0" y="1439547"/>
                    </a:cubicBezTo>
                    <a:lnTo>
                      <a:pt x="0" y="38877"/>
                    </a:lnTo>
                    <a:cubicBezTo>
                      <a:pt x="0" y="28566"/>
                      <a:pt x="4096" y="18678"/>
                      <a:pt x="11387" y="11387"/>
                    </a:cubicBezTo>
                    <a:cubicBezTo>
                      <a:pt x="18678" y="4096"/>
                      <a:pt x="28566" y="0"/>
                      <a:pt x="38877" y="0"/>
                    </a:cubicBezTo>
                    <a:close/>
                  </a:path>
                </a:pathLst>
              </a:custGeom>
              <a:solidFill>
                <a:srgbClr val="444CA8"/>
              </a:solidFill>
            </p:spPr>
          </p:sp>
          <p:sp>
            <p:nvSpPr>
              <p:cNvPr name="TextBox 6" id="6"/>
              <p:cNvSpPr txBox="true"/>
              <p:nvPr/>
            </p:nvSpPr>
            <p:spPr>
              <a:xfrm>
                <a:off x="0" y="-19050"/>
                <a:ext cx="1475109" cy="1497473"/>
              </a:xfrm>
              <a:prstGeom prst="rect">
                <a:avLst/>
              </a:prstGeom>
            </p:spPr>
            <p:txBody>
              <a:bodyPr anchor="ctr" rtlCol="false" tIns="50800" lIns="50800" bIns="50800" rIns="50800"/>
              <a:lstStyle/>
              <a:p>
                <a:pPr algn="ctr">
                  <a:lnSpc>
                    <a:spcPts val="2159"/>
                  </a:lnSpc>
                </a:pPr>
              </a:p>
            </p:txBody>
          </p:sp>
        </p:grpSp>
        <p:grpSp>
          <p:nvGrpSpPr>
            <p:cNvPr name="Group 7" id="7"/>
            <p:cNvGrpSpPr/>
            <p:nvPr/>
          </p:nvGrpSpPr>
          <p:grpSpPr>
            <a:xfrm rot="0">
              <a:off x="147865" y="153114"/>
              <a:ext cx="4377400" cy="43774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33203" y="0"/>
                    </a:moveTo>
                    <a:lnTo>
                      <a:pt x="779597" y="0"/>
                    </a:lnTo>
                    <a:cubicBezTo>
                      <a:pt x="788403" y="0"/>
                      <a:pt x="796849" y="3498"/>
                      <a:pt x="803075" y="9725"/>
                    </a:cubicBezTo>
                    <a:cubicBezTo>
                      <a:pt x="809302" y="15952"/>
                      <a:pt x="812800" y="24397"/>
                      <a:pt x="812800" y="33203"/>
                    </a:cubicBezTo>
                    <a:lnTo>
                      <a:pt x="812800" y="779597"/>
                    </a:lnTo>
                    <a:cubicBezTo>
                      <a:pt x="812800" y="788403"/>
                      <a:pt x="809302" y="796849"/>
                      <a:pt x="803075" y="803075"/>
                    </a:cubicBezTo>
                    <a:cubicBezTo>
                      <a:pt x="796849" y="809302"/>
                      <a:pt x="788403" y="812800"/>
                      <a:pt x="779597" y="812800"/>
                    </a:cubicBezTo>
                    <a:lnTo>
                      <a:pt x="33203" y="812800"/>
                    </a:lnTo>
                    <a:cubicBezTo>
                      <a:pt x="24397" y="812800"/>
                      <a:pt x="15952" y="809302"/>
                      <a:pt x="9725" y="803075"/>
                    </a:cubicBezTo>
                    <a:cubicBezTo>
                      <a:pt x="3498" y="796849"/>
                      <a:pt x="0" y="788403"/>
                      <a:pt x="0" y="779597"/>
                    </a:cubicBezTo>
                    <a:lnTo>
                      <a:pt x="0" y="33203"/>
                    </a:lnTo>
                    <a:cubicBezTo>
                      <a:pt x="0" y="24397"/>
                      <a:pt x="3498" y="15952"/>
                      <a:pt x="9725" y="9725"/>
                    </a:cubicBezTo>
                    <a:cubicBezTo>
                      <a:pt x="15952" y="3498"/>
                      <a:pt x="24397" y="0"/>
                      <a:pt x="33203" y="0"/>
                    </a:cubicBezTo>
                    <a:close/>
                  </a:path>
                </a:pathLst>
              </a:custGeom>
              <a:blipFill>
                <a:blip r:embed="rId4"/>
                <a:stretch>
                  <a:fillRect l="-190" t="0" r="-190" b="0"/>
                </a:stretch>
              </a:blipFill>
            </p:spPr>
          </p:sp>
        </p:grpSp>
      </p:grpSp>
      <p:sp>
        <p:nvSpPr>
          <p:cNvPr name="Freeform 9" id="9"/>
          <p:cNvSpPr/>
          <p:nvPr/>
        </p:nvSpPr>
        <p:spPr>
          <a:xfrm flipH="true" flipV="false" rot="-6762864">
            <a:off x="3427622" y="3457259"/>
            <a:ext cx="1474453" cy="890201"/>
          </a:xfrm>
          <a:custGeom>
            <a:avLst/>
            <a:gdLst/>
            <a:ahLst/>
            <a:cxnLst/>
            <a:rect r="r" b="b" t="t" l="l"/>
            <a:pathLst>
              <a:path h="890201" w="1474453">
                <a:moveTo>
                  <a:pt x="1474452" y="0"/>
                </a:moveTo>
                <a:lnTo>
                  <a:pt x="0" y="0"/>
                </a:lnTo>
                <a:lnTo>
                  <a:pt x="0" y="890201"/>
                </a:lnTo>
                <a:lnTo>
                  <a:pt x="1474452" y="890201"/>
                </a:lnTo>
                <a:lnTo>
                  <a:pt x="147445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8757042" y="-314486"/>
            <a:ext cx="1993116" cy="2092011"/>
          </a:xfrm>
          <a:custGeom>
            <a:avLst/>
            <a:gdLst/>
            <a:ahLst/>
            <a:cxnLst/>
            <a:rect r="r" b="b" t="t" l="l"/>
            <a:pathLst>
              <a:path h="2092011" w="1993116">
                <a:moveTo>
                  <a:pt x="0" y="0"/>
                </a:moveTo>
                <a:lnTo>
                  <a:pt x="1993116" y="0"/>
                </a:lnTo>
                <a:lnTo>
                  <a:pt x="1993116" y="2092012"/>
                </a:lnTo>
                <a:lnTo>
                  <a:pt x="0" y="20920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8757067" y="6351914"/>
            <a:ext cx="1401410" cy="1225597"/>
          </a:xfrm>
          <a:custGeom>
            <a:avLst/>
            <a:gdLst/>
            <a:ahLst/>
            <a:cxnLst/>
            <a:rect r="r" b="b" t="t" l="l"/>
            <a:pathLst>
              <a:path h="1225597" w="1401410">
                <a:moveTo>
                  <a:pt x="0" y="0"/>
                </a:moveTo>
                <a:lnTo>
                  <a:pt x="1401410" y="0"/>
                </a:lnTo>
                <a:lnTo>
                  <a:pt x="1401410" y="1225597"/>
                </a:lnTo>
                <a:lnTo>
                  <a:pt x="0" y="12255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491984" y="3451991"/>
            <a:ext cx="1777266" cy="2049259"/>
          </a:xfrm>
          <a:custGeom>
            <a:avLst/>
            <a:gdLst/>
            <a:ahLst/>
            <a:cxnLst/>
            <a:rect r="r" b="b" t="t" l="l"/>
            <a:pathLst>
              <a:path h="2049259" w="1777266">
                <a:moveTo>
                  <a:pt x="0" y="0"/>
                </a:moveTo>
                <a:lnTo>
                  <a:pt x="1777266" y="0"/>
                </a:lnTo>
                <a:lnTo>
                  <a:pt x="1777266" y="2049259"/>
                </a:lnTo>
                <a:lnTo>
                  <a:pt x="0" y="2049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3" id="13"/>
          <p:cNvGrpSpPr>
            <a:grpSpLocks noChangeAspect="true"/>
          </p:cNvGrpSpPr>
          <p:nvPr/>
        </p:nvGrpSpPr>
        <p:grpSpPr>
          <a:xfrm rot="0">
            <a:off x="434037" y="-362425"/>
            <a:ext cx="724849" cy="724849"/>
            <a:chOff x="0" y="0"/>
            <a:chExt cx="1708150" cy="1708150"/>
          </a:xfrm>
        </p:grpSpPr>
        <p:sp>
          <p:nvSpPr>
            <p:cNvPr name="Freeform 14" id="14"/>
            <p:cNvSpPr/>
            <p:nvPr/>
          </p:nvSpPr>
          <p:spPr>
            <a:xfrm flipH="false" flipV="false" rot="0">
              <a:off x="0" y="0"/>
              <a:ext cx="1706883" cy="1708150"/>
            </a:xfrm>
            <a:custGeom>
              <a:avLst/>
              <a:gdLst/>
              <a:ahLst/>
              <a:cxnLst/>
              <a:rect r="r" b="b" t="t" l="l"/>
              <a:pathLst>
                <a:path h="1708150" w="1706883">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FABA43"/>
            </a:solidFill>
          </p:spPr>
        </p:sp>
      </p:grpSp>
      <p:sp>
        <p:nvSpPr>
          <p:cNvPr name="Freeform 15" id="15"/>
          <p:cNvSpPr/>
          <p:nvPr/>
        </p:nvSpPr>
        <p:spPr>
          <a:xfrm flipH="false" flipV="false" rot="0">
            <a:off x="434037" y="5001610"/>
            <a:ext cx="2830080" cy="2313590"/>
          </a:xfrm>
          <a:custGeom>
            <a:avLst/>
            <a:gdLst/>
            <a:ahLst/>
            <a:cxnLst/>
            <a:rect r="r" b="b" t="t" l="l"/>
            <a:pathLst>
              <a:path h="2313590" w="2830080">
                <a:moveTo>
                  <a:pt x="0" y="0"/>
                </a:moveTo>
                <a:lnTo>
                  <a:pt x="2830080" y="0"/>
                </a:lnTo>
                <a:lnTo>
                  <a:pt x="2830080" y="2313590"/>
                </a:lnTo>
                <a:lnTo>
                  <a:pt x="0" y="231359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6" id="16"/>
          <p:cNvSpPr txBox="true"/>
          <p:nvPr/>
        </p:nvSpPr>
        <p:spPr>
          <a:xfrm rot="0">
            <a:off x="3745004" y="2132114"/>
            <a:ext cx="5012038" cy="1046167"/>
          </a:xfrm>
          <a:prstGeom prst="rect">
            <a:avLst/>
          </a:prstGeom>
        </p:spPr>
        <p:txBody>
          <a:bodyPr anchor="t" rtlCol="false" tIns="0" lIns="0" bIns="0" rIns="0">
            <a:spAutoFit/>
          </a:bodyPr>
          <a:lstStyle/>
          <a:p>
            <a:pPr algn="ctr">
              <a:lnSpc>
                <a:spcPts val="2781"/>
              </a:lnSpc>
            </a:pPr>
            <a:r>
              <a:rPr lang="en-US" b="true" sz="2317" i="true">
                <a:solidFill>
                  <a:srgbClr val="6063B8"/>
                </a:solidFill>
                <a:latin typeface="Poppins Bold Italics"/>
                <a:ea typeface="Poppins Bold Italics"/>
                <a:cs typeface="Poppins Bold Italics"/>
                <a:sym typeface="Poppins Bold Italics"/>
              </a:rPr>
              <a:t>Бiльше документацiї та сам застосунок </a:t>
            </a:r>
            <a:r>
              <a:rPr lang="en-US" b="true" sz="2317" i="true">
                <a:solidFill>
                  <a:srgbClr val="F14930"/>
                </a:solidFill>
                <a:latin typeface="Poppins Bold Italics"/>
                <a:ea typeface="Poppins Bold Italics"/>
                <a:cs typeface="Poppins Bold Italics"/>
                <a:sym typeface="Poppins Bold Italics"/>
              </a:rPr>
              <a:t>FinTracker </a:t>
            </a:r>
            <a:r>
              <a:rPr lang="en-US" b="true" sz="2317" i="true">
                <a:solidFill>
                  <a:srgbClr val="6063B8"/>
                </a:solidFill>
                <a:latin typeface="Poppins Bold Italics"/>
                <a:ea typeface="Poppins Bold Italics"/>
                <a:cs typeface="Poppins Bold Italics"/>
                <a:sym typeface="Poppins Bold Italics"/>
              </a:rPr>
              <a:t>можете знайти у нас в GitHub</a:t>
            </a:r>
          </a:p>
        </p:txBody>
      </p:sp>
      <p:sp>
        <p:nvSpPr>
          <p:cNvPr name="TextBox 17" id="17"/>
          <p:cNvSpPr txBox="true"/>
          <p:nvPr/>
        </p:nvSpPr>
        <p:spPr>
          <a:xfrm rot="0">
            <a:off x="796462" y="683895"/>
            <a:ext cx="7493675" cy="1000125"/>
          </a:xfrm>
          <a:prstGeom prst="rect">
            <a:avLst/>
          </a:prstGeom>
        </p:spPr>
        <p:txBody>
          <a:bodyPr anchor="t" rtlCol="false" tIns="0" lIns="0" bIns="0" rIns="0">
            <a:spAutoFit/>
          </a:bodyPr>
          <a:lstStyle/>
          <a:p>
            <a:pPr algn="ctr">
              <a:lnSpc>
                <a:spcPts val="7567"/>
              </a:lnSpc>
              <a:spcBef>
                <a:spcPct val="0"/>
              </a:spcBef>
            </a:pPr>
            <a:r>
              <a:rPr lang="en-US" b="true" sz="6306">
                <a:solidFill>
                  <a:srgbClr val="F14930"/>
                </a:solidFill>
                <a:latin typeface="Poppins Bold"/>
                <a:ea typeface="Poppins Bold"/>
                <a:cs typeface="Poppins Bold"/>
                <a:sym typeface="Poppins Bold"/>
              </a:rPr>
              <a:t>Дякуємо за увагу!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DAHC6h0mB4c</dc:identifier>
  <dcterms:modified xsi:type="dcterms:W3CDTF">2011-08-01T06:04:30Z</dcterms:modified>
  <cp:revision>1</cp:revision>
  <dc:title>Colorful Illustrative Financial Report Presentation</dc:title>
</cp:coreProperties>
</file>